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51307f8bb2457a" /><Relationship Type="http://schemas.openxmlformats.org/officeDocument/2006/relationships/extended-properties" Target="/docProps/app.xml" Id="R3bc394b6a3cc42cd" /><Relationship Type="http://schemas.openxmlformats.org/officeDocument/2006/relationships/officeDocument" Target="/ppt/presentation.xml" Id="R98fb44bc462f47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ed3cc17a34513"/>
  </p:sldMasterIdLst>
  <p:notesMasterIdLst>
    <p:notesMasterId xmlns:r="http://schemas.openxmlformats.org/officeDocument/2006/relationships" r:id="Rab7f9f52ad714009"/>
  </p:notesMasterIdLst>
  <p:sldIdLst>
    <p:sldId xmlns:r="http://schemas.openxmlformats.org/officeDocument/2006/relationships" id="256" r:id="Rb0e9ef892dd3469c"/>
    <p:sldId xmlns:r="http://schemas.openxmlformats.org/officeDocument/2006/relationships" id="257" r:id="Rfe4b6a4fce1f447f"/>
    <p:sldId xmlns:r="http://schemas.openxmlformats.org/officeDocument/2006/relationships" id="258" r:id="R545359f948814e87"/>
    <p:sldId xmlns:r="http://schemas.openxmlformats.org/officeDocument/2006/relationships" id="259" r:id="R66250a8d2dce4d6b"/>
    <p:sldId xmlns:r="http://schemas.openxmlformats.org/officeDocument/2006/relationships" id="260" r:id="R1b5f24f8c04148b8"/>
    <p:sldId xmlns:r="http://schemas.openxmlformats.org/officeDocument/2006/relationships" id="261" r:id="R847c2b55e96240bd"/>
    <p:sldId xmlns:r="http://schemas.openxmlformats.org/officeDocument/2006/relationships" id="262" r:id="Rcbfc1e92f0334dba"/>
    <p:sldId xmlns:r="http://schemas.openxmlformats.org/officeDocument/2006/relationships" id="263" r:id="R6f340c242cca4e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95b5c4f0634a16" /><Relationship Type="http://schemas.openxmlformats.org/officeDocument/2006/relationships/slideMaster" Target="/ppt/slideMasters/slideMaster1.xml" Id="R75ded3cc17a34513" /><Relationship Type="http://schemas.openxmlformats.org/officeDocument/2006/relationships/notesMaster" Target="/ppt/notesMasters/notesMaster1.xml" Id="Rab7f9f52ad714009" /><Relationship Type="http://schemas.openxmlformats.org/officeDocument/2006/relationships/presProps" Target="/ppt/presProps.xml" Id="R49d86ac3cf5143e7" /><Relationship Type="http://schemas.openxmlformats.org/officeDocument/2006/relationships/tableStyles" Target="/ppt/tableStyles.xml" Id="R2ee8788729454c69" /><Relationship Type="http://schemas.openxmlformats.org/officeDocument/2006/relationships/slide" Target="/ppt/slides/slide1.xml" Id="Rb0e9ef892dd3469c" /><Relationship Type="http://schemas.openxmlformats.org/officeDocument/2006/relationships/slide" Target="/ppt/slides/slide2.xml" Id="Rfe4b6a4fce1f447f" /><Relationship Type="http://schemas.openxmlformats.org/officeDocument/2006/relationships/slide" Target="/ppt/slides/slide3.xml" Id="R545359f948814e87" /><Relationship Type="http://schemas.openxmlformats.org/officeDocument/2006/relationships/slide" Target="/ppt/slides/slide4.xml" Id="R66250a8d2dce4d6b" /><Relationship Type="http://schemas.openxmlformats.org/officeDocument/2006/relationships/slide" Target="/ppt/slides/slide5.xml" Id="R1b5f24f8c04148b8" /><Relationship Type="http://schemas.openxmlformats.org/officeDocument/2006/relationships/slide" Target="/ppt/slides/slide6.xml" Id="R847c2b55e96240bd" /><Relationship Type="http://schemas.openxmlformats.org/officeDocument/2006/relationships/slide" Target="/ppt/slides/slide7.xml" Id="Rcbfc1e92f0334dba" /><Relationship Type="http://schemas.openxmlformats.org/officeDocument/2006/relationships/slide" Target="/ppt/slides/slide8.xml" Id="R6f340c242cca4e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971c499a6a4a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f1d09ce7c24a47" /><Relationship Type="http://schemas.openxmlformats.org/officeDocument/2006/relationships/notesMaster" Target="/ppt/notesMasters/notesMaster1.xml" Id="Rdba730f7cb1d47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6313cada4a471b" /><Relationship Type="http://schemas.openxmlformats.org/officeDocument/2006/relationships/notesMaster" Target="/ppt/notesMasters/notesMaster1.xml" Id="R0a17db51c7ae43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be844a91284af3" /><Relationship Type="http://schemas.openxmlformats.org/officeDocument/2006/relationships/notesMaster" Target="/ppt/notesMasters/notesMaster1.xml" Id="R493a1d9fcb2745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c66278f01748d7" /><Relationship Type="http://schemas.openxmlformats.org/officeDocument/2006/relationships/notesMaster" Target="/ppt/notesMasters/notesMaster1.xml" Id="Re9110c37cb354d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35c8c4171a4f69" /><Relationship Type="http://schemas.openxmlformats.org/officeDocument/2006/relationships/notesMaster" Target="/ppt/notesMasters/notesMaster1.xml" Id="R95b61c91128b46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95ece30c0a49b1" /><Relationship Type="http://schemas.openxmlformats.org/officeDocument/2006/relationships/notesMaster" Target="/ppt/notesMasters/notesMaster1.xml" Id="R79b232fdaa7c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700bbcb4024466" /><Relationship Type="http://schemas.openxmlformats.org/officeDocument/2006/relationships/notesMaster" Target="/ppt/notesMasters/notesMaster1.xml" Id="Rfde4695c55a544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0a901573b44b3d" /><Relationship Type="http://schemas.openxmlformats.org/officeDocument/2006/relationships/notesMaster" Target="/ppt/notesMasters/notesMaster1.xml" Id="R007ca62f74eb46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开场先讲真实麻烦：就诊时信息零散、容易遗漏，医生也难在短时间内抓住重点。本项目只做诊前沟通准备。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README.md:1-14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用真实页面截图说明系统最终交付的不是聊天文本，而是一份可核对、可导出的就诊准备结果。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artifacts/ppt-build/app-review.png</a:t>
            </a:r>
          </a:p>
          <a:p xmlns:a="http://schemas.openxmlformats.org/drawingml/2006/main">
            <a:r>
              <a:t>- README.md:7-14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 Agent 的先进实现方式：图编排、确定性边界、结构化输出、工具调用和 human-in-the-loop，而不是一个提示词包办全部。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internal/agent/workflow.go</a:t>
            </a:r>
          </a:p>
          <a:p xmlns:a="http://schemas.openxmlformats.org/drawingml/2006/main">
            <a:r>
              <a:t>- internal/agent/runner.go:86-135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强调准确不是承诺 AI 永不犯错，而是把事实来源、允许范围、外部资料和人工确认做成代码约束。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internal/guard/privacy.go</a:t>
            </a:r>
          </a:p>
          <a:p xmlns:a="http://schemas.openxmlformats.org/drawingml/2006/main">
            <a:r>
              <a:t>- internal/guard/source.go</a:t>
            </a:r>
          </a:p>
          <a:p xmlns:a="http://schemas.openxmlformats.org/drawingml/2006/main">
            <a:r>
              <a:t>- docs/THREAT_MODEL.md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按老师要求现场打开真实代码：先 main.go，再 openai.go 第 129 行，最后 runner.go 和 app.js。重点指出 demo 模式明确标记不调用 AI，正式演示必须用 live 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cmd/server/main.go:33-145</a:t>
            </a:r>
          </a:p>
          <a:p xmlns:a="http://schemas.openxmlformats.org/drawingml/2006/main">
            <a:r>
              <a:t>- internal/llm/openai.go:70-147</a:t>
            </a:r>
          </a:p>
          <a:p xmlns:a="http://schemas.openxmlformats.org/drawingml/2006/main">
            <a:r>
              <a:t>- internal/agent/runner.go:86-135</a:t>
            </a:r>
          </a:p>
          <a:p xmlns:a="http://schemas.openxmlformats.org/drawingml/2006/main">
            <a:r>
              <a:t>- internal/webui/assets/app.js:166-200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解释答辩电脑只需要 Docker Desktop，不需要现场安装 Go、Node.js 或模型。Kubernetes 是生产设计展示，不作为 8 分钟主演示路径。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Dockerfile</a:t>
            </a:r>
          </a:p>
          <a:p xmlns:a="http://schemas.openxmlformats.org/drawingml/2006/main">
            <a:r>
              <a:t>- compose.yaml</a:t>
            </a:r>
          </a:p>
          <a:p xmlns:a="http://schemas.openxmlformats.org/drawingml/2006/main">
            <a:r>
              <a:t>- deploy/k8s/deployment.yaml</a:t>
            </a:r>
          </a:p>
          <a:p xmlns:a="http://schemas.openxmlformats.org/drawingml/2006/main">
            <a:r>
              <a:t>- README.md:32-80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按时间线演示。不要现场安装、注册或下载模型。正式演示先走 live；网络失败才切录屏或 demo，并主动解释为什么。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README.md:113-124</a:t>
            </a:r>
          </a:p>
          <a:p xmlns:a="http://schemas.openxmlformats.org/drawingml/2006/main">
            <a:r>
              <a:t>- demo/visit-input.txt</a:t>
            </a:r>
          </a:p>
          <a:p xmlns:a="http://schemas.openxmlformats.org/drawingml/2006/main">
            <a:r>
              <a:t>- demo/clarification.txt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回扣开场：系统价值不是替代医疗判断，而是把患者原始信息整理成更可靠的沟通材料。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README.md:1-14</a:t>
            </a:r>
          </a:p>
          <a:p xmlns:a="http://schemas.openxmlformats.org/drawingml/2006/main">
            <a:r>
              <a:t>- https://github.com/Asuka-20011204/visit_ready_agent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a1b43fbb5943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aec35457b146b7" /><Relationship Type="http://schemas.openxmlformats.org/officeDocument/2006/relationships/slideLayout" Target="/ppt/slideLayouts/slideLayout1.xml" Id="R876e849e8a404a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e849e8a404a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2bfb029714856" /><Relationship Type="http://schemas.openxmlformats.org/officeDocument/2006/relationships/notesSlide" Target="/ppt/notesSlides/notesSlide1.xml" Id="R92680ea9e47f49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7dc3bed484045" /><Relationship Type="http://schemas.openxmlformats.org/officeDocument/2006/relationships/image" Target="/ppt/media/image.jpeg" Id="R5dba081c2bef4420" /><Relationship Type="http://schemas.openxmlformats.org/officeDocument/2006/relationships/notesSlide" Target="/ppt/notesSlides/notesSlide2.xml" Id="Rcb330bd6261b49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ba4756dfe471c" /><Relationship Type="http://schemas.openxmlformats.org/officeDocument/2006/relationships/notesSlide" Target="/ppt/notesSlides/notesSlide3.xml" Id="R6924f01a187444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7383077a04f21" /><Relationship Type="http://schemas.openxmlformats.org/officeDocument/2006/relationships/notesSlide" Target="/ppt/notesSlides/notesSlide4.xml" Id="Ra27aa7df2ae94d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9fa0e25d44e01" /><Relationship Type="http://schemas.openxmlformats.org/officeDocument/2006/relationships/notesSlide" Target="/ppt/notesSlides/notesSlide5.xml" Id="R446bde9d744c4b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6cb3548e949e2" /><Relationship Type="http://schemas.openxmlformats.org/officeDocument/2006/relationships/notesSlide" Target="/ppt/notesSlides/notesSlide6.xml" Id="R6d1c383e40934c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790a57cf64674" /><Relationship Type="http://schemas.openxmlformats.org/officeDocument/2006/relationships/notesSlide" Target="/ppt/notesSlides/notesSlide7.xml" Id="R0c3aec565d9146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e6ab185f548c3" /><Relationship Type="http://schemas.openxmlformats.org/officeDocument/2006/relationships/notesSlide" Target="/ppt/notesSlides/notesSlide8.xml" Id="R230ac8a03bb442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D515F18-4E07-4617-AD3F-24946E6A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医疗健康 AI · 结课大作业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04CEC81-8171-488E-9974-D2E7DD73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Visit Ready</a:t>
            </a:r>
          </a:p>
          <a:p xmlns:a="http://schemas.openxmlformats.org/drawingml/2006/main">
            <a:pPr algn="l">
              <a:defRPr sz="5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70A192E-700A-4568-8139-2FAF6DCB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790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把零散症状整理成一份可核对的就诊准备清单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56C9AEC0-F968-492A-ABAC-622B2D67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5" name="cover-stack">
            <a:extLst xmlns:a="http://schemas.openxmlformats.org/drawingml/2006/main">
              <a:ext uri="{FF2B5EF4-FFF2-40B4-BE49-F238E27FC236}">
                <a16:creationId xmlns:a16="http://schemas.microsoft.com/office/drawing/2014/main" id="{E2911B5E-DD40-4ADB-97C8-26A740D4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Go 1.25  ·  Eino Graph  ·  OpenAI-compatible API  ·  Docker / Kubernetes</a:t>
            </a:r>
          </a:p>
        </p:txBody>
      </p:sp>
      <p:sp>
        <p:nvSpPr>
          <p:cNvPr id="6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B10FA2D4-6B99-4EC9-89D1-5C09E735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定位：诊前信息整理，不诊断、不推荐药物、不替代医生</a:t>
            </a:r>
          </a:p>
        </p:txBody>
      </p:sp>
      <p:sp>
        <p:nvSpPr>
          <p:cNvPr id="7" name="cover-page">
            <a:extLst xmlns:a="http://schemas.openxmlformats.org/drawingml/2006/main">
              <a:ext uri="{FF2B5EF4-FFF2-40B4-BE49-F238E27FC236}">
                <a16:creationId xmlns:a16="http://schemas.microsoft.com/office/drawing/2014/main" id="{0F3A767D-39F1-4C76-9CBA-9B8D15F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8835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2">
            <a:extLst xmlns:a="http://schemas.openxmlformats.org/drawingml/2006/main">
              <a:ext uri="{FF2B5EF4-FFF2-40B4-BE49-F238E27FC236}">
                <a16:creationId xmlns:a16="http://schemas.microsoft.com/office/drawing/2014/main" id="{A02238BD-5045-4FEB-A7F4-C0B71C62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VISIT READY AGENT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54471AD-D841-415D-81E2-FF022DAF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一次输入，得到可以带去医院的结果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015A726E-6CAE-4C39-A2C4-32E1657E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762DCD4-7295-407C-B84C-632195CE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a081c2bef4420"/>
          <a:stretch xmlns:a="http://schemas.openxmlformats.org/drawingml/2006/main"/>
        </p:blipFill>
        <p:spPr>
          <a:xfrm xmlns:a="http://schemas.openxmlformats.org/drawingml/2006/main">
            <a:off x="552450" y="2018140"/>
            <a:ext cx="6705600" cy="3774219"/>
          </a:xfrm>
          <a:prstGeom xmlns:a="http://schemas.openxmlformats.org/drawingml/2006/main" prst="roundRect">
            <a:avLst>
              <a:gd name="adj" fmla="val 1802"/>
            </a:avLst>
          </a:prstGeom>
        </p:spPr>
      </p:pic>
      <p:sp>
        <p:nvSpPr>
          <p:cNvPr id="6" name="screenshot-border">
            <a:extLst xmlns:a="http://schemas.openxmlformats.org/drawingml/2006/main">
              <a:ext uri="{FF2B5EF4-FFF2-40B4-BE49-F238E27FC236}">
                <a16:creationId xmlns:a16="http://schemas.microsoft.com/office/drawing/2014/main" id="{EB495683-518A-455E-B53D-1C7B834A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6705600" cy="4229100"/>
          </a:xfrm>
          <a:prstGeom xmlns:a="http://schemas.openxmlformats.org/drawingml/2006/main" prst="roundRect">
            <a:avLst>
              <a:gd name="adj" fmla="val 180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result-1-accent">
            <a:extLst xmlns:a="http://schemas.openxmlformats.org/drawingml/2006/main">
              <a:ext uri="{FF2B5EF4-FFF2-40B4-BE49-F238E27FC236}">
                <a16:creationId xmlns:a16="http://schemas.microsoft.com/office/drawing/2014/main" id="{BDD64818-8FAB-4935-94BC-CA9C9969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09775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8" name="result-1-heading">
            <a:extLst xmlns:a="http://schemas.openxmlformats.org/drawingml/2006/main">
              <a:ext uri="{FF2B5EF4-FFF2-40B4-BE49-F238E27FC236}">
                <a16:creationId xmlns:a16="http://schemas.microsoft.com/office/drawing/2014/main" id="{A31BB810-7C51-452E-96DD-EB332F66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事实摘要</a:t>
            </a:r>
          </a:p>
        </p:txBody>
      </p:sp>
      <p:sp>
        <p:nvSpPr>
          <p:cNvPr id="9" name="result-1-body">
            <a:extLst xmlns:a="http://schemas.openxmlformats.org/drawingml/2006/main">
              <a:ext uri="{FF2B5EF4-FFF2-40B4-BE49-F238E27FC236}">
                <a16:creationId xmlns:a16="http://schemas.microsoft.com/office/drawing/2014/main" id="{0B9DE72C-46CC-4DAA-88C2-504A3B39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24100"/>
            <a:ext cx="340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症状、时间、用药、过敏、检查；每项保留原文依据。</a:t>
            </a:r>
          </a:p>
        </p:txBody>
      </p:sp>
      <p:sp>
        <p:nvSpPr>
          <p:cNvPr id="10" name="result-2-accent">
            <a:extLst xmlns:a="http://schemas.openxmlformats.org/drawingml/2006/main">
              <a:ext uri="{FF2B5EF4-FFF2-40B4-BE49-F238E27FC236}">
                <a16:creationId xmlns:a16="http://schemas.microsoft.com/office/drawing/2014/main" id="{7D8BDF76-E24B-447E-84AC-643EE725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62325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result-2-heading">
            <a:extLst xmlns:a="http://schemas.openxmlformats.org/drawingml/2006/main">
              <a:ext uri="{FF2B5EF4-FFF2-40B4-BE49-F238E27FC236}">
                <a16:creationId xmlns:a16="http://schemas.microsoft.com/office/drawing/2014/main" id="{5C73AFE5-2C8D-4CD0-B1FE-6427C9F0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最多追问一轮</a:t>
            </a:r>
          </a:p>
        </p:txBody>
      </p:sp>
      <p:sp>
        <p:nvSpPr>
          <p:cNvPr id="12" name="result-2-body">
            <a:extLst xmlns:a="http://schemas.openxmlformats.org/drawingml/2006/main">
              <a:ext uri="{FF2B5EF4-FFF2-40B4-BE49-F238E27FC236}">
                <a16:creationId xmlns:a16="http://schemas.microsoft.com/office/drawing/2014/main" id="{D0E25D8C-E70B-4422-B29B-2C51CA88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76650"/>
            <a:ext cx="340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信息不足时再问，避免无休止对话。</a:t>
            </a:r>
          </a:p>
        </p:txBody>
      </p:sp>
      <p:sp>
        <p:nvSpPr>
          <p:cNvPr id="13" name="result-3-accent">
            <a:extLst xmlns:a="http://schemas.openxmlformats.org/drawingml/2006/main">
              <a:ext uri="{FF2B5EF4-FFF2-40B4-BE49-F238E27FC236}">
                <a16:creationId xmlns:a16="http://schemas.microsoft.com/office/drawing/2014/main" id="{1A3157CB-4F0E-402D-8DDC-238E84AA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14875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result-3-heading">
            <a:extLst xmlns:a="http://schemas.openxmlformats.org/drawingml/2006/main">
              <a:ext uri="{FF2B5EF4-FFF2-40B4-BE49-F238E27FC236}">
                <a16:creationId xmlns:a16="http://schemas.microsoft.com/office/drawing/2014/main" id="{659CBD28-F3F5-4093-AD0D-7D4F1ACB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就诊问题与导出</a:t>
            </a:r>
          </a:p>
        </p:txBody>
      </p:sp>
      <p:sp>
        <p:nvSpPr>
          <p:cNvPr id="15" name="result-3-body">
            <a:extLst xmlns:a="http://schemas.openxmlformats.org/drawingml/2006/main">
              <a:ext uri="{FF2B5EF4-FFF2-40B4-BE49-F238E27FC236}">
                <a16:creationId xmlns:a16="http://schemas.microsoft.com/office/drawing/2014/main" id="{12B508F7-3E76-4E73-B7CD-3C95BA67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29200"/>
            <a:ext cx="340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核对后生成要问医生的问题，并导出 Markdown。</a:t>
            </a:r>
          </a:p>
        </p:txBody>
      </p:sp>
    </p:spTree>
    <p:extLst>
      <p:ext uri="{BB962C8B-B14F-4D97-AF65-F5344CB8AC3E}">
        <p14:creationId xmlns:p14="http://schemas.microsoft.com/office/powerpoint/2010/main" val="1297216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3">
            <a:extLst xmlns:a="http://schemas.openxmlformats.org/drawingml/2006/main">
              <a:ext uri="{FF2B5EF4-FFF2-40B4-BE49-F238E27FC236}">
                <a16:creationId xmlns:a16="http://schemas.microsoft.com/office/drawing/2014/main" id="{FBFE4836-6681-4173-A99F-C19EC3B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VISIT READY AGENT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FAD5337-1A39-4FF8-A145-1ED56B06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不是自由聊天，而是一条受约束工作流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C66BFCCD-9758-4832-AAC1-5505F085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7DEED41-DFC9-416E-A322-36902116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flow-line-0">
            <a:extLst xmlns:a="http://schemas.openxmlformats.org/drawingml/2006/main">
              <a:ext uri="{FF2B5EF4-FFF2-40B4-BE49-F238E27FC236}">
                <a16:creationId xmlns:a16="http://schemas.microsoft.com/office/drawing/2014/main" id="{F13433F9-DC4B-478C-9301-5EAD5E13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242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flow-line-1">
            <a:extLst xmlns:a="http://schemas.openxmlformats.org/drawingml/2006/main">
              <a:ext uri="{FF2B5EF4-FFF2-40B4-BE49-F238E27FC236}">
                <a16:creationId xmlns:a16="http://schemas.microsoft.com/office/drawing/2014/main" id="{E6208017-C576-42B9-B05E-82E81388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242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7" name="flow-line-2">
            <a:extLst xmlns:a="http://schemas.openxmlformats.org/drawingml/2006/main">
              <a:ext uri="{FF2B5EF4-FFF2-40B4-BE49-F238E27FC236}">
                <a16:creationId xmlns:a16="http://schemas.microsoft.com/office/drawing/2014/main" id="{AB8907A9-CCFE-4260-BAB4-54F1D310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242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8" name="flow-line-3">
            <a:extLst xmlns:a="http://schemas.openxmlformats.org/drawingml/2006/main">
              <a:ext uri="{FF2B5EF4-FFF2-40B4-BE49-F238E27FC236}">
                <a16:creationId xmlns:a16="http://schemas.microsoft.com/office/drawing/2014/main" id="{C4F31FBE-4B0D-4D9C-8C21-CCACDE2E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242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9" name="flow-line-4">
            <a:extLst xmlns:a="http://schemas.openxmlformats.org/drawingml/2006/main">
              <a:ext uri="{FF2B5EF4-FFF2-40B4-BE49-F238E27FC236}">
                <a16:creationId xmlns:a16="http://schemas.microsoft.com/office/drawing/2014/main" id="{D2B8D89F-1AFF-404A-BDEF-46801E5D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242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0" name="flow-num-0">
            <a:extLst xmlns:a="http://schemas.openxmlformats.org/drawingml/2006/main">
              <a:ext uri="{FF2B5EF4-FFF2-40B4-BE49-F238E27FC236}">
                <a16:creationId xmlns:a16="http://schemas.microsoft.com/office/drawing/2014/main" id="{8C0590D9-AA2B-4411-AB91-8ACEDEF9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F1202374-60AC-4607-B725-3AA6267B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输入校验</a:t>
            </a:r>
          </a:p>
        </p:txBody>
      </p:sp>
      <p:sp>
        <p:nvSpPr>
          <p:cNvPr id="12" name="flow-detail-0">
            <a:extLst xmlns:a="http://schemas.openxmlformats.org/drawingml/2006/main">
              <a:ext uri="{FF2B5EF4-FFF2-40B4-BE49-F238E27FC236}">
                <a16:creationId xmlns:a16="http://schemas.microsoft.com/office/drawing/2014/main" id="{3A4AED2D-8A45-4F5D-879F-649193CA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33775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长度 + PII</a:t>
            </a:r>
          </a:p>
        </p:txBody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AAFDB288-47CF-4B78-90CD-920BB92D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47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571D7781-633D-4EAB-A9DA-AD11DFF6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事实提取</a:t>
            </a:r>
          </a:p>
        </p:txBody>
      </p:sp>
      <p:sp>
        <p:nvSpPr>
          <p:cNvPr id="15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E719308B-4B18-42A3-848C-C52898EB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33775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结构化 JSON</a:t>
            </a:r>
          </a:p>
        </p:txBody>
      </p:sp>
      <p:sp>
        <p:nvSpPr>
          <p:cNvPr id="16" name="flow-num-2">
            <a:extLst xmlns:a="http://schemas.openxmlformats.org/drawingml/2006/main">
              <a:ext uri="{FF2B5EF4-FFF2-40B4-BE49-F238E27FC236}">
                <a16:creationId xmlns:a16="http://schemas.microsoft.com/office/drawing/2014/main" id="{91CE1099-A988-46CC-8AAA-7FA63B41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438F9D2F-2130-44EE-A789-0B48A71A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原文证据校验</a:t>
            </a:r>
          </a:p>
        </p:txBody>
      </p:sp>
      <p:sp>
        <p:nvSpPr>
          <p:cNvPr id="18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B23157B4-F653-4D93-AF9B-FE252DC9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33775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source_quote</a:t>
            </a:r>
          </a:p>
        </p:txBody>
      </p:sp>
      <p:sp>
        <p:nvSpPr>
          <p:cNvPr id="19" name="flow-num-3">
            <a:extLst xmlns:a="http://schemas.openxmlformats.org/drawingml/2006/main">
              <a:ext uri="{FF2B5EF4-FFF2-40B4-BE49-F238E27FC236}">
                <a16:creationId xmlns:a16="http://schemas.microsoft.com/office/drawing/2014/main" id="{E749A2AF-5D83-435A-BDF7-05888218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71262C77-AB4A-4D87-936B-A03838D3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可信域检索</a:t>
            </a:r>
          </a:p>
        </p:txBody>
      </p:sp>
      <p:sp>
        <p:nvSpPr>
          <p:cNvPr id="21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BBB3A498-EBD6-4F54-8660-9441B4B3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33775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去标识化查询</a:t>
            </a:r>
          </a:p>
        </p:txBody>
      </p:sp>
      <p:sp>
        <p:nvSpPr>
          <p:cNvPr id="22" name="flow-num-4">
            <a:extLst xmlns:a="http://schemas.openxmlformats.org/drawingml/2006/main">
              <a:ext uri="{FF2B5EF4-FFF2-40B4-BE49-F238E27FC236}">
                <a16:creationId xmlns:a16="http://schemas.microsoft.com/office/drawing/2014/main" id="{F19534B9-9873-4298-9639-BFD920E9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0B392FC8-C2E0-4F4F-9AAF-00465D4F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生成问题</a:t>
            </a:r>
          </a:p>
        </p:txBody>
      </p:sp>
      <p:sp>
        <p:nvSpPr>
          <p:cNvPr id="24" name="flow-detail-4">
            <a:extLst xmlns:a="http://schemas.openxmlformats.org/drawingml/2006/main">
              <a:ext uri="{FF2B5EF4-FFF2-40B4-BE49-F238E27FC236}">
                <a16:creationId xmlns:a16="http://schemas.microsoft.com/office/drawing/2014/main" id="{61F5E19F-3AC7-4E04-993F-E3CB38DF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33775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1–6 个问题</a:t>
            </a:r>
          </a:p>
        </p:txBody>
      </p:sp>
      <p:sp>
        <p:nvSpPr>
          <p:cNvPr id="25" name="flow-num-5">
            <a:extLst xmlns:a="http://schemas.openxmlformats.org/drawingml/2006/main">
              <a:ext uri="{FF2B5EF4-FFF2-40B4-BE49-F238E27FC236}">
                <a16:creationId xmlns:a16="http://schemas.microsoft.com/office/drawing/2014/main" id="{30559A9D-F09F-4FD4-85FA-BBFD6F72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47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3E41A9CF-224E-47B1-8764-37E2DF50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8605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7" name="flow-detail-5">
            <a:extLst xmlns:a="http://schemas.openxmlformats.org/drawingml/2006/main">
              <a:ext uri="{FF2B5EF4-FFF2-40B4-BE49-F238E27FC236}">
                <a16:creationId xmlns:a16="http://schemas.microsoft.com/office/drawing/2014/main" id="{4AA330C7-9710-4F66-B460-4D9D088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533775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确认后导出</a:t>
            </a:r>
          </a:p>
        </p:txBody>
      </p:sp>
      <p:sp>
        <p:nvSpPr>
          <p:cNvPr id="28" name="flow-eino">
            <a:extLst xmlns:a="http://schemas.openxmlformats.org/drawingml/2006/main">
              <a:ext uri="{FF2B5EF4-FFF2-40B4-BE49-F238E27FC236}">
                <a16:creationId xmlns:a16="http://schemas.microsoft.com/office/drawing/2014/main" id="{AC940830-E6A7-4DCA-9B19-D88A25D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Eino Graph 决定步骤与状态；模型只完成被允许的结构化任务。</a:t>
            </a:r>
          </a:p>
        </p:txBody>
      </p:sp>
      <p:sp>
        <p:nvSpPr>
          <p:cNvPr id="29" name="flow-degrade">
            <a:extLst xmlns:a="http://schemas.openxmlformats.org/drawingml/2006/main">
              <a:ext uri="{FF2B5EF4-FFF2-40B4-BE49-F238E27FC236}">
                <a16:creationId xmlns:a16="http://schemas.microsoft.com/office/drawing/2014/main" id="{C45DA6E9-9395-462D-BE53-A5C4866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搜索失败可降级，患者事实不能由搜索结果补写。</a:t>
            </a:r>
          </a:p>
        </p:txBody>
      </p:sp>
    </p:spTree>
    <p:extLst>
      <p:ext uri="{BB962C8B-B14F-4D97-AF65-F5344CB8AC3E}">
        <p14:creationId xmlns:p14="http://schemas.microsoft.com/office/powerpoint/2010/main" val="1653274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FD67B8B2-830B-47CC-A640-0769A8A5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VISIT READY AGENT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28BF23C-54E0-43F1-A003-57878B19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医疗场景的准确性，来自可验证边界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4F14E368-E78E-4011-82A4-57F713DE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91F9CDF3-0C03-469D-8C2A-70B9FA80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safety-left-title">
            <a:extLst xmlns:a="http://schemas.openxmlformats.org/drawingml/2006/main">
              <a:ext uri="{FF2B5EF4-FFF2-40B4-BE49-F238E27FC236}">
                <a16:creationId xmlns:a16="http://schemas.microsoft.com/office/drawing/2014/main" id="{1AE88633-2039-4767-B751-C7929FA3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患者事实</a:t>
            </a:r>
          </a:p>
        </p:txBody>
      </p:sp>
      <p:sp>
        <p:nvSpPr>
          <p:cNvPr id="6" name="safety-left-body">
            <a:extLst xmlns:a="http://schemas.openxmlformats.org/drawingml/2006/main">
              <a:ext uri="{FF2B5EF4-FFF2-40B4-BE49-F238E27FC236}">
                <a16:creationId xmlns:a16="http://schemas.microsoft.com/office/drawing/2014/main" id="{10C351F7-8B89-4387-AD63-16E4C0E9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只来自用户原文</a:t>
            </a:r>
          </a:p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每条必须带精确 source_quote</a:t>
            </a:r>
          </a:p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未通过校验的事实直接拒绝</a:t>
            </a:r>
          </a:p>
        </p:txBody>
      </p:sp>
      <p:sp>
        <p:nvSpPr>
          <p:cNvPr id="7" name="safety-right-title">
            <a:extLst xmlns:a="http://schemas.openxmlformats.org/drawingml/2006/main">
              <a:ext uri="{FF2B5EF4-FFF2-40B4-BE49-F238E27FC236}">
                <a16:creationId xmlns:a16="http://schemas.microsoft.com/office/drawing/2014/main" id="{D83390D6-0A00-4560-B51E-CEA236FE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外部资料</a:t>
            </a:r>
          </a:p>
        </p:txBody>
      </p:sp>
      <p:sp>
        <p:nvSpPr>
          <p:cNvPr id="8" name="safety-right-body">
            <a:extLst xmlns:a="http://schemas.openxmlformats.org/drawingml/2006/main">
              <a:ext uri="{FF2B5EF4-FFF2-40B4-BE49-F238E27FC236}">
                <a16:creationId xmlns:a16="http://schemas.microsoft.com/office/drawing/2014/main" id="{420FD421-5DDA-4D1B-999E-AFE5E373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3842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只用通用医学主题检索</a:t>
            </a:r>
          </a:p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仅允许 WHO、国家卫健委、CDC 等 HTTPS 域名</a:t>
            </a:r>
          </a:p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资料与患者事实分区显示</a:t>
            </a:r>
          </a:p>
        </p:txBody>
      </p:sp>
      <p:sp>
        <p:nvSpPr>
          <p:cNvPr id="9" name="safety-divider">
            <a:extLst xmlns:a="http://schemas.openxmlformats.org/drawingml/2006/main">
              <a:ext uri="{FF2B5EF4-FFF2-40B4-BE49-F238E27FC236}">
                <a16:creationId xmlns:a16="http://schemas.microsoft.com/office/drawing/2014/main" id="{1A330905-4EB2-468C-B1A7-A69E9C70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52625"/>
            <a:ext cx="190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safety-stop">
            <a:extLst xmlns:a="http://schemas.openxmlformats.org/drawingml/2006/main">
              <a:ext uri="{FF2B5EF4-FFF2-40B4-BE49-F238E27FC236}">
                <a16:creationId xmlns:a16="http://schemas.microsoft.com/office/drawing/2014/main" id="{1379DDA8-04B5-4E9E-A723-ED0FEEE0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输出守卫：禁止诊断推断、处方/停药建议和越界医疗指令</a:t>
            </a:r>
          </a:p>
        </p:txBody>
      </p:sp>
      <p:sp>
        <p:nvSpPr>
          <p:cNvPr id="11" name="safety-privacy">
            <a:extLst xmlns:a="http://schemas.openxmlformats.org/drawingml/2006/main">
              <a:ext uri="{FF2B5EF4-FFF2-40B4-BE49-F238E27FC236}">
                <a16:creationId xmlns:a16="http://schemas.microsoft.com/office/drawing/2014/main" id="{B4A8B71C-667C-49BF-8706-6B7764DC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隐私守卫覆盖手机号、身份证、姓名、住址、病历号、微信号、护照号等直接标识符。</a:t>
            </a:r>
          </a:p>
        </p:txBody>
      </p:sp>
    </p:spTree>
    <p:extLst>
      <p:ext uri="{BB962C8B-B14F-4D97-AF65-F5344CB8AC3E}">
        <p14:creationId xmlns:p14="http://schemas.microsoft.com/office/powerpoint/2010/main" val="12394500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5">
            <a:extLst xmlns:a="http://schemas.openxmlformats.org/drawingml/2006/main">
              <a:ext uri="{FF2B5EF4-FFF2-40B4-BE49-F238E27FC236}">
                <a16:creationId xmlns:a16="http://schemas.microsoft.com/office/drawing/2014/main" id="{892B6CAA-5149-4129-BC74-CC4E5712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VISIT READY AGENT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239F834-5D6A-477D-9CA2-78BD2A9C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现场代码只看三处，就能讲清调用链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F37EAB5D-F3C8-4CA0-8A57-9C5D96D7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57423DA-BAFB-4E87-A0D9-FDA9857A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code-entry-title">
            <a:extLst xmlns:a="http://schemas.openxmlformats.org/drawingml/2006/main">
              <a:ext uri="{FF2B5EF4-FFF2-40B4-BE49-F238E27FC236}">
                <a16:creationId xmlns:a16="http://schemas.microsoft.com/office/drawing/2014/main" id="{0E92A31C-B279-4C8C-A4E3-DB2BB873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  程序从哪里开始</a:t>
            </a:r>
          </a:p>
        </p:txBody>
      </p:sp>
      <p:sp>
        <p:nvSpPr>
          <p:cNvPr id="6" name="code-entry-code">
            <a:extLst xmlns:a="http://schemas.openxmlformats.org/drawingml/2006/main">
              <a:ext uri="{FF2B5EF4-FFF2-40B4-BE49-F238E27FC236}">
                <a16:creationId xmlns:a16="http://schemas.microsoft.com/office/drawing/2014/main" id="{F4679A22-B3F5-48A3-8E36-AB3B1F4D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333375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cmd/server/main.go:33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func main() {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  execute(ctx, os.LookupEnv, logger)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main.go:93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buildHandler(...)</a:t>
            </a:r>
          </a:p>
        </p:txBody>
      </p:sp>
      <p:sp>
        <p:nvSpPr>
          <p:cNvPr id="7" name="code-ai-title">
            <a:extLst xmlns:a="http://schemas.openxmlformats.org/drawingml/2006/main">
              <a:ext uri="{FF2B5EF4-FFF2-40B4-BE49-F238E27FC236}">
                <a16:creationId xmlns:a16="http://schemas.microsoft.com/office/drawing/2014/main" id="{5BAF742B-B223-4D8D-AE41-34ED63CA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  AI 在哪一行调用</a:t>
            </a:r>
          </a:p>
        </p:txBody>
      </p:sp>
      <p:sp>
        <p:nvSpPr>
          <p:cNvPr id="8" name="code-ai-code">
            <a:extLst xmlns:a="http://schemas.openxmlformats.org/drawingml/2006/main">
              <a:ext uri="{FF2B5EF4-FFF2-40B4-BE49-F238E27FC236}">
                <a16:creationId xmlns:a16="http://schemas.microsoft.com/office/drawing/2014/main" id="{4064A576-273C-4490-912E-E6A5D6C5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52650"/>
            <a:ext cx="333375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internal/llm/openai.go:129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resp, err := c.httpClient.Do(req)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openai.go:70 / 87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Extract(...)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GenerateQuestions(...)</a:t>
            </a:r>
          </a:p>
        </p:txBody>
      </p:sp>
      <p:sp>
        <p:nvSpPr>
          <p:cNvPr id="9" name="code-result-title">
            <a:extLst xmlns:a="http://schemas.openxmlformats.org/drawingml/2006/main">
              <a:ext uri="{FF2B5EF4-FFF2-40B4-BE49-F238E27FC236}">
                <a16:creationId xmlns:a16="http://schemas.microsoft.com/office/drawing/2014/main" id="{7F786C40-D476-455D-A718-B842A7AD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  结果最后用到哪里</a:t>
            </a:r>
          </a:p>
        </p:txBody>
      </p:sp>
      <p:sp>
        <p:nvSpPr>
          <p:cNvPr id="10" name="code-result-code">
            <a:extLst xmlns:a="http://schemas.openxmlformats.org/drawingml/2006/main">
              <a:ext uri="{FF2B5EF4-FFF2-40B4-BE49-F238E27FC236}">
                <a16:creationId xmlns:a16="http://schemas.microsoft.com/office/drawing/2014/main" id="{8AD1AB3A-7C85-4852-B2FA-8AA4B681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33375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runner.go:108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workflow.Invoke(...)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app.js:191–193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renderFacts(session.facts)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renderQuestions(session.questions)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renderSources(session.sources)</a:t>
            </a:r>
          </a:p>
        </p:txBody>
      </p:sp>
      <p:sp>
        <p:nvSpPr>
          <p:cNvPr id="11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190496F4-B71B-4B15-B043-934890E0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真实 HTTP 请求 → 严格 JSON 解码 → Agent 会话 → 页面核对 / Markdown 导出</a:t>
            </a:r>
          </a:p>
        </p:txBody>
      </p:sp>
    </p:spTree>
    <p:extLst>
      <p:ext uri="{BB962C8B-B14F-4D97-AF65-F5344CB8AC3E}">
        <p14:creationId xmlns:p14="http://schemas.microsoft.com/office/powerpoint/2010/main" val="1334027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6">
            <a:extLst xmlns:a="http://schemas.openxmlformats.org/drawingml/2006/main">
              <a:ext uri="{FF2B5EF4-FFF2-40B4-BE49-F238E27FC236}">
                <a16:creationId xmlns:a16="http://schemas.microsoft.com/office/drawing/2014/main" id="{06C26C10-5642-48CB-B553-F87F581A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VISIT READY AGENT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76636D2-4180-4478-8CBA-6F9533F6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一条 Docker 命令启动，也保留生产部署路径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C961CCCD-0541-48C0-B64B-DFB3174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CE7B441E-7411-4E27-9B5A-E267DD3A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docker-command">
            <a:extLst xmlns:a="http://schemas.openxmlformats.org/drawingml/2006/main">
              <a:ext uri="{FF2B5EF4-FFF2-40B4-BE49-F238E27FC236}">
                <a16:creationId xmlns:a16="http://schemas.microsoft.com/office/drawing/2014/main" id="{7E9ED4C3-5F47-45B5-87C0-77635346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685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docker compose up --build -d</a:t>
            </a:r>
          </a:p>
        </p:txBody>
      </p:sp>
      <p:sp>
        <p:nvSpPr>
          <p:cNvPr id="6" name="container-proof">
            <a:extLst xmlns:a="http://schemas.openxmlformats.org/drawingml/2006/main">
              <a:ext uri="{FF2B5EF4-FFF2-40B4-BE49-F238E27FC236}">
                <a16:creationId xmlns:a16="http://schemas.microsoft.com/office/drawing/2014/main" id="{4E7F90D5-4294-4160-9A9F-E966C670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容器运行证据</a:t>
            </a:r>
          </a:p>
        </p:txBody>
      </p:sp>
      <p:sp>
        <p:nvSpPr>
          <p:cNvPr id="7" name="container-list">
            <a:extLst xmlns:a="http://schemas.openxmlformats.org/drawingml/2006/main">
              <a:ext uri="{FF2B5EF4-FFF2-40B4-BE49-F238E27FC236}">
                <a16:creationId xmlns:a16="http://schemas.microsoft.com/office/drawing/2014/main" id="{2BE66F28-3980-46B4-95D2-68C2A718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非 root 用户 10001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只读根文件系统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Linux capabilities 全部移除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健康检查 + PID / CPU / 内存限制</a:t>
            </a:r>
          </a:p>
        </p:txBody>
      </p:sp>
      <p:sp>
        <p:nvSpPr>
          <p:cNvPr id="8" name="quality-proof">
            <a:extLst xmlns:a="http://schemas.openxmlformats.org/drawingml/2006/main">
              <a:ext uri="{FF2B5EF4-FFF2-40B4-BE49-F238E27FC236}">
                <a16:creationId xmlns:a16="http://schemas.microsoft.com/office/drawing/2014/main" id="{246DAFD8-588E-4431-A4E1-873533D9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28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自动化验证</a:t>
            </a:r>
          </a:p>
        </p:txBody>
      </p:sp>
      <p:sp>
        <p:nvSpPr>
          <p:cNvPr id="9" name="quality-list">
            <a:extLst xmlns:a="http://schemas.openxmlformats.org/drawingml/2006/main">
              <a:ext uri="{FF2B5EF4-FFF2-40B4-BE49-F238E27FC236}">
                <a16:creationId xmlns:a16="http://schemas.microsoft.com/office/drawing/2014/main" id="{D1C15A48-1F3D-4D4C-AC9A-1F841FF6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go test ./...  全部通过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go vet ./...  通过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核心包覆盖率 83.1%–97.4%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桌面 / 390px 移动端无横向溢出</a:t>
            </a:r>
          </a:p>
        </p:txBody>
      </p:sp>
      <p:sp>
        <p:nvSpPr>
          <p:cNvPr id="10" name="k8s-note">
            <a:extLst xmlns:a="http://schemas.openxmlformats.org/drawingml/2006/main">
              <a:ext uri="{FF2B5EF4-FFF2-40B4-BE49-F238E27FC236}">
                <a16:creationId xmlns:a16="http://schemas.microsoft.com/office/drawing/2014/main" id="{6C40DAD3-DB69-4146-9083-93614194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Kubernetes 清单：Secret 注入、探针、资源限制、默认 seccomp；当前内存会话设计固定为 1 副本。</a:t>
            </a:r>
          </a:p>
        </p:txBody>
      </p:sp>
    </p:spTree>
    <p:extLst>
      <p:ext uri="{BB962C8B-B14F-4D97-AF65-F5344CB8AC3E}">
        <p14:creationId xmlns:p14="http://schemas.microsoft.com/office/powerpoint/2010/main" val="1945920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7">
            <a:extLst xmlns:a="http://schemas.openxmlformats.org/drawingml/2006/main">
              <a:ext uri="{FF2B5EF4-FFF2-40B4-BE49-F238E27FC236}">
                <a16:creationId xmlns:a16="http://schemas.microsoft.com/office/drawing/2014/main" id="{80ED485C-FEF5-4DED-91EB-1DF3E2C5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VISIT READY AGENT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E6ED3BF-1162-40B4-9F24-B42ED1BD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 分钟现场演示：先跑结果，再打开代码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57B0FAC7-C8B5-4413-8543-21B08B43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A5457AC6-BEAF-4B29-9A52-8798A163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7624BAD-DC93-4777-BF75-0064A2D0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time-0">
            <a:extLst xmlns:a="http://schemas.openxmlformats.org/drawingml/2006/main">
              <a:ext uri="{FF2B5EF4-FFF2-40B4-BE49-F238E27FC236}">
                <a16:creationId xmlns:a16="http://schemas.microsoft.com/office/drawing/2014/main" id="{45B96A7A-0656-4444-9FEF-00585510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0–1 分钟</a:t>
            </a:r>
          </a:p>
        </p:txBody>
      </p:sp>
      <p:sp>
        <p:nvSpPr>
          <p:cNvPr id="7" name="time-name-0">
            <a:extLst xmlns:a="http://schemas.openxmlformats.org/drawingml/2006/main">
              <a:ext uri="{FF2B5EF4-FFF2-40B4-BE49-F238E27FC236}">
                <a16:creationId xmlns:a16="http://schemas.microsoft.com/office/drawing/2014/main" id="{1DB674C3-BEDA-4051-885A-1222A310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8" name="time-dot-0">
            <a:extLst xmlns:a="http://schemas.openxmlformats.org/drawingml/2006/main">
              <a:ext uri="{FF2B5EF4-FFF2-40B4-BE49-F238E27FC236}">
                <a16:creationId xmlns:a16="http://schemas.microsoft.com/office/drawing/2014/main" id="{F2BE93D8-B033-47E2-AFC2-6031AC86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time-body-0">
            <a:extLst xmlns:a="http://schemas.openxmlformats.org/drawingml/2006/main">
              <a:ext uri="{FF2B5EF4-FFF2-40B4-BE49-F238E27FC236}">
                <a16:creationId xmlns:a16="http://schemas.microsoft.com/office/drawing/2014/main" id="{AB700C44-640D-4682-9BD8-3595630C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2038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compose ps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healthz</a:t>
            </a:r>
          </a:p>
        </p:txBody>
      </p:sp>
      <p:sp>
        <p:nvSpPr>
          <p:cNvPr id="10" name="time-1">
            <a:extLst xmlns:a="http://schemas.openxmlformats.org/drawingml/2006/main">
              <a:ext uri="{FF2B5EF4-FFF2-40B4-BE49-F238E27FC236}">
                <a16:creationId xmlns:a16="http://schemas.microsoft.com/office/drawing/2014/main" id="{928F2222-F15C-42C5-9252-4A07CA4E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1–3 分钟</a:t>
            </a:r>
          </a:p>
        </p:txBody>
      </p:sp>
      <p:sp>
        <p:nvSpPr>
          <p:cNvPr id="11" name="time-name-1">
            <a:extLst xmlns:a="http://schemas.openxmlformats.org/drawingml/2006/main">
              <a:ext uri="{FF2B5EF4-FFF2-40B4-BE49-F238E27FC236}">
                <a16:creationId xmlns:a16="http://schemas.microsoft.com/office/drawing/2014/main" id="{C99E1803-829D-446E-AB62-660895D8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0507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真实输入</a:t>
            </a:r>
          </a:p>
        </p:txBody>
      </p:sp>
      <p:sp>
        <p:nvSpPr>
          <p:cNvPr id="12" name="time-dot-1">
            <a:extLst xmlns:a="http://schemas.openxmlformats.org/drawingml/2006/main">
              <a:ext uri="{FF2B5EF4-FFF2-40B4-BE49-F238E27FC236}">
                <a16:creationId xmlns:a16="http://schemas.microsoft.com/office/drawing/2014/main" id="{7B690903-14F2-4002-9ED3-7905ECEC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3" name="time-body-1">
            <a:extLst xmlns:a="http://schemas.openxmlformats.org/drawingml/2006/main">
              <a:ext uri="{FF2B5EF4-FFF2-40B4-BE49-F238E27FC236}">
                <a16:creationId xmlns:a16="http://schemas.microsoft.com/office/drawing/2014/main" id="{F90656CD-D645-43D2-964B-0B5ED916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2038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粘贴合成病情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开启联网检索</a:t>
            </a:r>
          </a:p>
        </p:txBody>
      </p:sp>
      <p:sp>
        <p:nvSpPr>
          <p:cNvPr id="14" name="time-2">
            <a:extLst xmlns:a="http://schemas.openxmlformats.org/drawingml/2006/main">
              <a:ext uri="{FF2B5EF4-FFF2-40B4-BE49-F238E27FC236}">
                <a16:creationId xmlns:a16="http://schemas.microsoft.com/office/drawing/2014/main" id="{D88E4E7A-963E-46A2-85A4-17C33FAF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193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3–5 分钟</a:t>
            </a:r>
          </a:p>
        </p:txBody>
      </p:sp>
      <p:sp>
        <p:nvSpPr>
          <p:cNvPr id="15" name="time-name-2">
            <a:extLst xmlns:a="http://schemas.openxmlformats.org/drawingml/2006/main">
              <a:ext uri="{FF2B5EF4-FFF2-40B4-BE49-F238E27FC236}">
                <a16:creationId xmlns:a16="http://schemas.microsoft.com/office/drawing/2014/main" id="{17B38729-EC88-4C47-84A1-50FC867D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0507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处理</a:t>
            </a:r>
          </a:p>
        </p:txBody>
      </p:sp>
      <p:sp>
        <p:nvSpPr>
          <p:cNvPr id="16" name="time-dot-2">
            <a:extLst xmlns:a="http://schemas.openxmlformats.org/drawingml/2006/main">
              <a:ext uri="{FF2B5EF4-FFF2-40B4-BE49-F238E27FC236}">
                <a16:creationId xmlns:a16="http://schemas.microsoft.com/office/drawing/2014/main" id="{512AED55-EA57-4A4C-87D3-BB383655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7" name="time-body-2">
            <a:extLst xmlns:a="http://schemas.openxmlformats.org/drawingml/2006/main">
              <a:ext uri="{FF2B5EF4-FFF2-40B4-BE49-F238E27FC236}">
                <a16:creationId xmlns:a16="http://schemas.microsoft.com/office/drawing/2014/main" id="{1CB252CC-C390-4693-ADB7-E385FDA8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24250"/>
            <a:ext cx="2038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追问一轮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事实与可信来源</a:t>
            </a:r>
          </a:p>
        </p:txBody>
      </p:sp>
      <p:sp>
        <p:nvSpPr>
          <p:cNvPr id="18" name="time-3">
            <a:extLst xmlns:a="http://schemas.openxmlformats.org/drawingml/2006/main">
              <a:ext uri="{FF2B5EF4-FFF2-40B4-BE49-F238E27FC236}">
                <a16:creationId xmlns:a16="http://schemas.microsoft.com/office/drawing/2014/main" id="{00671417-7221-41FF-A903-3F48A38C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193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5–6 分钟</a:t>
            </a:r>
          </a:p>
        </p:txBody>
      </p:sp>
      <p:sp>
        <p:nvSpPr>
          <p:cNvPr id="19" name="time-name-3">
            <a:extLst xmlns:a="http://schemas.openxmlformats.org/drawingml/2006/main">
              <a:ext uri="{FF2B5EF4-FFF2-40B4-BE49-F238E27FC236}">
                <a16:creationId xmlns:a16="http://schemas.microsoft.com/office/drawing/2014/main" id="{8BA9AA1E-D8D2-43D9-8541-C2EB4D43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0507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确认导出</a:t>
            </a:r>
          </a:p>
        </p:txBody>
      </p:sp>
      <p:sp>
        <p:nvSpPr>
          <p:cNvPr id="20" name="time-dot-3">
            <a:extLst xmlns:a="http://schemas.openxmlformats.org/drawingml/2006/main">
              <a:ext uri="{FF2B5EF4-FFF2-40B4-BE49-F238E27FC236}">
                <a16:creationId xmlns:a16="http://schemas.microsoft.com/office/drawing/2014/main" id="{A1F3BE30-06EA-4F89-9AA6-01BA1091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1" name="time-body-3">
            <a:extLst xmlns:a="http://schemas.openxmlformats.org/drawingml/2006/main">
              <a:ext uri="{FF2B5EF4-FFF2-40B4-BE49-F238E27FC236}">
                <a16:creationId xmlns:a16="http://schemas.microsoft.com/office/drawing/2014/main" id="{B1FB3456-53D5-4986-AF21-747DA48A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24250"/>
            <a:ext cx="2038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填写就诊目标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下载 Markdown</a:t>
            </a:r>
          </a:p>
        </p:txBody>
      </p:sp>
      <p:sp>
        <p:nvSpPr>
          <p:cNvPr id="22" name="time-4">
            <a:extLst xmlns:a="http://schemas.openxmlformats.org/drawingml/2006/main">
              <a:ext uri="{FF2B5EF4-FFF2-40B4-BE49-F238E27FC236}">
                <a16:creationId xmlns:a16="http://schemas.microsoft.com/office/drawing/2014/main" id="{F0BB46A4-43BB-49E1-B222-E5B18DD5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193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6–8 分钟</a:t>
            </a:r>
          </a:p>
        </p:txBody>
      </p:sp>
      <p:sp>
        <p:nvSpPr>
          <p:cNvPr id="23" name="time-name-4">
            <a:extLst xmlns:a="http://schemas.openxmlformats.org/drawingml/2006/main">
              <a:ext uri="{FF2B5EF4-FFF2-40B4-BE49-F238E27FC236}">
                <a16:creationId xmlns:a16="http://schemas.microsoft.com/office/drawing/2014/main" id="{A74202A6-6AD9-4B82-BC6D-0F65B926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0507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代码讲解</a:t>
            </a:r>
          </a:p>
        </p:txBody>
      </p:sp>
      <p:sp>
        <p:nvSpPr>
          <p:cNvPr id="24" name="time-dot-4">
            <a:extLst xmlns:a="http://schemas.openxmlformats.org/drawingml/2006/main">
              <a:ext uri="{FF2B5EF4-FFF2-40B4-BE49-F238E27FC236}">
                <a16:creationId xmlns:a16="http://schemas.microsoft.com/office/drawing/2014/main" id="{5800D387-7A3C-48DF-92BF-D5B4DB2A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5" name="time-body-4">
            <a:extLst xmlns:a="http://schemas.openxmlformats.org/drawingml/2006/main">
              <a:ext uri="{FF2B5EF4-FFF2-40B4-BE49-F238E27FC236}">
                <a16:creationId xmlns:a16="http://schemas.microsoft.com/office/drawing/2014/main" id="{290997F5-48A8-4685-992F-8DB52844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24250"/>
            <a:ext cx="2038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main.go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openai.go:129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结果渲染</a:t>
            </a:r>
          </a:p>
        </p:txBody>
      </p:sp>
      <p:sp>
        <p:nvSpPr>
          <p:cNvPr id="26" name="fallback-title">
            <a:extLst xmlns:a="http://schemas.openxmlformats.org/drawingml/2006/main">
              <a:ext uri="{FF2B5EF4-FFF2-40B4-BE49-F238E27FC236}">
                <a16:creationId xmlns:a16="http://schemas.microsoft.com/office/drawing/2014/main" id="{E670B12E-B3A7-4709-93AC-FA586383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翻车预案</a:t>
            </a:r>
          </a:p>
        </p:txBody>
      </p:sp>
      <p:sp>
        <p:nvSpPr>
          <p:cNvPr id="27" name="fallback-body">
            <a:extLst xmlns:a="http://schemas.openxmlformats.org/drawingml/2006/main">
              <a:ext uri="{FF2B5EF4-FFF2-40B4-BE49-F238E27FC236}">
                <a16:creationId xmlns:a16="http://schemas.microsoft.com/office/drawing/2014/main" id="{C4F143CD-8EEF-409D-AAA9-2D142295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76875"/>
            <a:ext cx="920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提前构建镜像与录屏；API 超时能解释错误分型；离线 demo 仅用于流程兜底，并明确显示“未调用 AI”。</a:t>
            </a:r>
          </a:p>
        </p:txBody>
      </p:sp>
    </p:spTree>
    <p:extLst>
      <p:ext uri="{BB962C8B-B14F-4D97-AF65-F5344CB8AC3E}">
        <p14:creationId xmlns:p14="http://schemas.microsoft.com/office/powerpoint/2010/main" val="1781533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856F7DA9-738C-4B04-8649-0DAD755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6E965B3-259B-48D0-A590-C2ACBD25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它不替医生做决定，</a:t>
            </a:r>
          </a:p>
          <a:p xmlns:a="http://schemas.openxmlformats.org/drawingml/2006/main">
            <a:pPr algn="l">
              <a:defRPr sz="4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只让患者更准确地表达。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AD2EC54C-C083-4FD8-BF20-4D2D7524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4" name="close-proof">
            <a:extLst xmlns:a="http://schemas.openxmlformats.org/drawingml/2006/main">
              <a:ext uri="{FF2B5EF4-FFF2-40B4-BE49-F238E27FC236}">
                <a16:creationId xmlns:a16="http://schemas.microsoft.com/office/drawing/2014/main" id="{5F9ABAA8-058D-47A1-AF0D-EA6C50C7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真实 AI 调用  ·  可信联网检索  ·  人工确认闭环  ·  Docker 一键运行</a:t>
            </a:r>
          </a:p>
        </p:txBody>
      </p:sp>
      <p:sp>
        <p:nvSpPr>
          <p:cNvPr id="5" name="close-repo">
            <a:extLst xmlns:a="http://schemas.openxmlformats.org/drawingml/2006/main">
              <a:ext uri="{FF2B5EF4-FFF2-40B4-BE49-F238E27FC236}">
                <a16:creationId xmlns:a16="http://schemas.microsoft.com/office/drawing/2014/main" id="{D4346D59-E994-4E71-B3B2-647769CC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5B6472"/>
                </a:solidFill>
                <a:latin typeface="Cascadia Mono"/>
                <a:ea typeface="Cascadia Mono"/>
                <a:cs typeface="Cascadia Mono"/>
              </a:rPr>
              <a:t>github.com/Asuka-20011204/visit_ready_agent</a:t>
            </a:r>
          </a:p>
        </p:txBody>
      </p:sp>
      <p:sp>
        <p:nvSpPr>
          <p:cNvPr id="6" name="close-url">
            <a:extLst xmlns:a="http://schemas.openxmlformats.org/drawingml/2006/main">
              <a:ext uri="{FF2B5EF4-FFF2-40B4-BE49-F238E27FC236}">
                <a16:creationId xmlns:a16="http://schemas.microsoft.com/office/drawing/2014/main" id="{234A1075-F9A2-4F9A-96F8-7449E953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本地演示：http://127.0.0.1:8080</a:t>
            </a:r>
          </a:p>
        </p:txBody>
      </p:sp>
      <p:sp>
        <p:nvSpPr>
          <p:cNvPr id="7" name="close-page">
            <a:extLst xmlns:a="http://schemas.openxmlformats.org/drawingml/2006/main">
              <a:ext uri="{FF2B5EF4-FFF2-40B4-BE49-F238E27FC236}">
                <a16:creationId xmlns:a16="http://schemas.microsoft.com/office/drawing/2014/main" id="{B53FA9EF-4365-4CC6-A531-1EC956EF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2830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2026-09-03T13:28:12.1200000Z</dcterms:created>
  <dcterms:modified xsi:type="dcterms:W3CDTF">2026-09-03T13:28:12.1200000Z</dcterms:modified>
</coreProperties>
</file>