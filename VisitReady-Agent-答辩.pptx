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a90ff70bd341eb" /><Relationship Type="http://schemas.openxmlformats.org/officeDocument/2006/relationships/extended-properties" Target="/docProps/app.xml" Id="R1d9e91bde3dc4b09" /><Relationship Type="http://schemas.openxmlformats.org/officeDocument/2006/relationships/officeDocument" Target="/ppt/presentation.xml" Id="R887584f86a104b5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163fa99ac94dcf"/>
  </p:sldMasterIdLst>
  <p:notesMasterIdLst>
    <p:notesMasterId xmlns:r="http://schemas.openxmlformats.org/officeDocument/2006/relationships" r:id="R6b15992b7bdf4e03"/>
  </p:notesMasterIdLst>
  <p:sldIdLst>
    <p:sldId xmlns:r="http://schemas.openxmlformats.org/officeDocument/2006/relationships" id="256" r:id="Rb606f71c8c264e1d"/>
    <p:sldId xmlns:r="http://schemas.openxmlformats.org/officeDocument/2006/relationships" id="257" r:id="Rf3120ce66578404f"/>
    <p:sldId xmlns:r="http://schemas.openxmlformats.org/officeDocument/2006/relationships" id="258" r:id="R12f05c12eae44697"/>
    <p:sldId xmlns:r="http://schemas.openxmlformats.org/officeDocument/2006/relationships" id="259" r:id="Re8390c793af34747"/>
    <p:sldId xmlns:r="http://schemas.openxmlformats.org/officeDocument/2006/relationships" id="260" r:id="Rece112d5b4c840b7"/>
    <p:sldId xmlns:r="http://schemas.openxmlformats.org/officeDocument/2006/relationships" id="261" r:id="Rf5017eacb55e43e3"/>
    <p:sldId xmlns:r="http://schemas.openxmlformats.org/officeDocument/2006/relationships" id="262" r:id="Ra2fadf70e5df42be"/>
    <p:sldId xmlns:r="http://schemas.openxmlformats.org/officeDocument/2006/relationships" id="263" r:id="R3b2450722f7a4d9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e3385323ab44a6" /><Relationship Type="http://schemas.openxmlformats.org/officeDocument/2006/relationships/slideMaster" Target="/ppt/slideMasters/slideMaster1.xml" Id="Rd2163fa99ac94dcf" /><Relationship Type="http://schemas.openxmlformats.org/officeDocument/2006/relationships/notesMaster" Target="/ppt/notesMasters/notesMaster1.xml" Id="R6b15992b7bdf4e03" /><Relationship Type="http://schemas.openxmlformats.org/officeDocument/2006/relationships/presProps" Target="/ppt/presProps.xml" Id="R55e45ba3f13d4d94" /><Relationship Type="http://schemas.openxmlformats.org/officeDocument/2006/relationships/tableStyles" Target="/ppt/tableStyles.xml" Id="Rc7dbca8868384947" /><Relationship Type="http://schemas.openxmlformats.org/officeDocument/2006/relationships/slide" Target="/ppt/slides/slide1.xml" Id="Rb606f71c8c264e1d" /><Relationship Type="http://schemas.openxmlformats.org/officeDocument/2006/relationships/slide" Target="/ppt/slides/slide2.xml" Id="Rf3120ce66578404f" /><Relationship Type="http://schemas.openxmlformats.org/officeDocument/2006/relationships/slide" Target="/ppt/slides/slide3.xml" Id="R12f05c12eae44697" /><Relationship Type="http://schemas.openxmlformats.org/officeDocument/2006/relationships/slide" Target="/ppt/slides/slide4.xml" Id="Re8390c793af34747" /><Relationship Type="http://schemas.openxmlformats.org/officeDocument/2006/relationships/slide" Target="/ppt/slides/slide5.xml" Id="Rece112d5b4c840b7" /><Relationship Type="http://schemas.openxmlformats.org/officeDocument/2006/relationships/slide" Target="/ppt/slides/slide6.xml" Id="Rf5017eacb55e43e3" /><Relationship Type="http://schemas.openxmlformats.org/officeDocument/2006/relationships/slide" Target="/ppt/slides/slide7.xml" Id="Ra2fadf70e5df42be" /><Relationship Type="http://schemas.openxmlformats.org/officeDocument/2006/relationships/slide" Target="/ppt/slides/slide8.xml" Id="R3b2450722f7a4d9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e3675b5fd9c4e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b3fa452bbe64de2" /><Relationship Type="http://schemas.openxmlformats.org/officeDocument/2006/relationships/notesMaster" Target="/ppt/notesMasters/notesMaster1.xml" Id="Rb089a622d44f4b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aae4b0bcb5b473d" /><Relationship Type="http://schemas.openxmlformats.org/officeDocument/2006/relationships/notesMaster" Target="/ppt/notesMasters/notesMaster1.xml" Id="R5a8e5eca325648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cb16603a04b4daa" /><Relationship Type="http://schemas.openxmlformats.org/officeDocument/2006/relationships/notesMaster" Target="/ppt/notesMasters/notesMaster1.xml" Id="R92af5721b50043a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f473a9d2a3348d4" /><Relationship Type="http://schemas.openxmlformats.org/officeDocument/2006/relationships/notesMaster" Target="/ppt/notesMasters/notesMaster1.xml" Id="Rcf4f0cbe7e8a40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dc64a523b524727" /><Relationship Type="http://schemas.openxmlformats.org/officeDocument/2006/relationships/notesMaster" Target="/ppt/notesMasters/notesMaster1.xml" Id="R62885ea981a943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a82b8db912f43c4" /><Relationship Type="http://schemas.openxmlformats.org/officeDocument/2006/relationships/notesMaster" Target="/ppt/notesMasters/notesMaster1.xml" Id="Ra87bd930498c4fa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d2372b6af68434c" /><Relationship Type="http://schemas.openxmlformats.org/officeDocument/2006/relationships/notesMaster" Target="/ppt/notesMasters/notesMaster1.xml" Id="Re4bc74d9df4b4d5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9513fb62daa40ef" /><Relationship Type="http://schemas.openxmlformats.org/officeDocument/2006/relationships/notesMaster" Target="/ppt/notesMasters/notesMaster1.xml" Id="R074731df1e954a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开场先讲真实麻烦：就诊时信息零散、容易遗漏，医生也难在短时间内抓住重点。本项目只做诊前沟通准备。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README.md:1-14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用真实页面截图说明系统最终交付的不是聊天文本，而是一份可核对、可导出的就诊准备结果。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artifacts/ppt-build/app-review.png</a:t>
            </a:r>
          </a:p>
          <a:p xmlns:a="http://schemas.openxmlformats.org/drawingml/2006/main">
            <a:r>
              <a:t>- README.md:7-14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讲清 Agent 的先进实现方式：图编排、确定性边界、结构化输出、工具调用和 human-in-the-loop，而不是一个提示词包办全部。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internal/agent/workflow.go</a:t>
            </a:r>
          </a:p>
          <a:p xmlns:a="http://schemas.openxmlformats.org/drawingml/2006/main">
            <a:r>
              <a:t>- internal/agent/runner.go:86-135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强调准确不是承诺 AI 永不犯错，而是把事实来源、允许范围、外部资料和人工确认做成代码约束。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internal/guard/privacy.go</a:t>
            </a:r>
          </a:p>
          <a:p xmlns:a="http://schemas.openxmlformats.org/drawingml/2006/main">
            <a:r>
              <a:t>- internal/guard/source.go</a:t>
            </a:r>
          </a:p>
          <a:p xmlns:a="http://schemas.openxmlformats.org/drawingml/2006/main">
            <a:r>
              <a:t>- docs/THREAT_MODEL.md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按老师要求现场打开真实代码：先 main.go，再 openai.go 第 129 行，最后 runner.go 和 app.js。重点指出 demo 模式明确标记不调用 AI，正式演示必须用 live 模式。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cmd/server/main.go:33-145</a:t>
            </a:r>
          </a:p>
          <a:p xmlns:a="http://schemas.openxmlformats.org/drawingml/2006/main">
            <a:r>
              <a:t>- internal/llm/openai.go:70-147</a:t>
            </a:r>
          </a:p>
          <a:p xmlns:a="http://schemas.openxmlformats.org/drawingml/2006/main">
            <a:r>
              <a:t>- internal/agent/runner.go:86-135</a:t>
            </a:r>
          </a:p>
          <a:p xmlns:a="http://schemas.openxmlformats.org/drawingml/2006/main">
            <a:r>
              <a:t>- internal/webui/assets/app.js:159-193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解释答辩电脑只需要 Docker Desktop，不需要现场安装 Go、Node.js 或模型。Kubernetes 是生产设计展示，不作为 8 分钟主演示路径。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Dockerfile</a:t>
            </a:r>
          </a:p>
          <a:p xmlns:a="http://schemas.openxmlformats.org/drawingml/2006/main">
            <a:r>
              <a:t>- compose.yaml</a:t>
            </a:r>
          </a:p>
          <a:p xmlns:a="http://schemas.openxmlformats.org/drawingml/2006/main">
            <a:r>
              <a:t>- deploy/k8s/deployment.yaml</a:t>
            </a:r>
          </a:p>
          <a:p xmlns:a="http://schemas.openxmlformats.org/drawingml/2006/main">
            <a:r>
              <a:t>- README.md:32-80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按时间线演示。不要现场安装、注册或下载模型。正式演示先走 live；网络失败才切录屏或 demo，并主动解释为什么。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README.md:113-124</a:t>
            </a:r>
          </a:p>
          <a:p xmlns:a="http://schemas.openxmlformats.org/drawingml/2006/main">
            <a:r>
              <a:t>- demo/visit-input.txt</a:t>
            </a:r>
          </a:p>
          <a:p xmlns:a="http://schemas.openxmlformats.org/drawingml/2006/main">
            <a:r>
              <a:t>- demo/clarification.txt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回扣开场：系统价值不是替代医疗判断，而是把患者原始信息整理成更可靠的沟通材料。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README.md:1-14</a:t>
            </a:r>
          </a:p>
          <a:p xmlns:a="http://schemas.openxmlformats.org/drawingml/2006/main">
            <a:r>
              <a:t>- https://github.com/Asuka-20011204/visit_ready_agent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0b529f4b684b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5668030c0541a3" /><Relationship Type="http://schemas.openxmlformats.org/officeDocument/2006/relationships/slideLayout" Target="/ppt/slideLayouts/slideLayout1.xml" Id="R0a3d3357583a47a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3d3357583a47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061cd19a5342a4" /><Relationship Type="http://schemas.openxmlformats.org/officeDocument/2006/relationships/notesSlide" Target="/ppt/notesSlides/notesSlide1.xml" Id="R269a02232b05417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50e9eaf03a4c28" /><Relationship Type="http://schemas.openxmlformats.org/officeDocument/2006/relationships/image" Target="/ppt/media/image.jpeg" Id="Re912118783314cf8" /><Relationship Type="http://schemas.openxmlformats.org/officeDocument/2006/relationships/notesSlide" Target="/ppt/notesSlides/notesSlide2.xml" Id="Rcf870231b61a45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f4b37174054fc3" /><Relationship Type="http://schemas.openxmlformats.org/officeDocument/2006/relationships/notesSlide" Target="/ppt/notesSlides/notesSlide3.xml" Id="R03d56c5e6d5d41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00a1ffef54ef7" /><Relationship Type="http://schemas.openxmlformats.org/officeDocument/2006/relationships/notesSlide" Target="/ppt/notesSlides/notesSlide4.xml" Id="Ra31b001e26ac4a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8f8ffa529d4f38" /><Relationship Type="http://schemas.openxmlformats.org/officeDocument/2006/relationships/notesSlide" Target="/ppt/notesSlides/notesSlide5.xml" Id="Rf36b4cfbda524e9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bddfa688cb48e6" /><Relationship Type="http://schemas.openxmlformats.org/officeDocument/2006/relationships/notesSlide" Target="/ppt/notesSlides/notesSlide6.xml" Id="R67cfebfd85b64a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017a5c1dd3460f" /><Relationship Type="http://schemas.openxmlformats.org/officeDocument/2006/relationships/notesSlide" Target="/ppt/notesSlides/notesSlide7.xml" Id="R5ed778a29fce45c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578710daff406a" /><Relationship Type="http://schemas.openxmlformats.org/officeDocument/2006/relationships/notesSlide" Target="/ppt/notesSlides/notesSlide8.xml" Id="Rfb0eec14588a41c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1A3F69F5-6D9B-4529-8B17-3CA61945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医疗健康 AI · 结课大作业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35F4D4C-AEFB-4CD0-876C-8A58026B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6858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7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Visit Ready</a:t>
            </a:r>
          </a:p>
          <a:p xmlns:a="http://schemas.openxmlformats.org/drawingml/2006/main">
            <a:pPr algn="l">
              <a:defRPr sz="57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7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BF2124D-C891-4CEB-9A26-D90D5A57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0"/>
            <a:ext cx="7905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把零散症状整理成一份可核对的就诊准备清单</a:t>
            </a:r>
          </a:p>
        </p:txBody>
      </p:sp>
      <p:sp>
        <p:nvSpPr>
          <p:cNvPr id="4" name="cover-rule">
            <a:extLst xmlns:a="http://schemas.openxmlformats.org/drawingml/2006/main">
              <a:ext uri="{FF2B5EF4-FFF2-40B4-BE49-F238E27FC236}">
                <a16:creationId xmlns:a16="http://schemas.microsoft.com/office/drawing/2014/main" id="{A8294838-D10D-4E11-8882-D80F3F48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101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5" name="cover-stack">
            <a:extLst xmlns:a="http://schemas.openxmlformats.org/drawingml/2006/main">
              <a:ext uri="{FF2B5EF4-FFF2-40B4-BE49-F238E27FC236}">
                <a16:creationId xmlns:a16="http://schemas.microsoft.com/office/drawing/2014/main" id="{44331EEC-B286-4052-A176-AB547D4BB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768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Go 1.25  ·  Eino Graph  ·  OpenAI-compatible API  ·  Docker / Kubernetes</a:t>
            </a:r>
          </a:p>
        </p:txBody>
      </p:sp>
      <p:sp>
        <p:nvSpPr>
          <p:cNvPr id="6" name="cover-boundary">
            <a:extLst xmlns:a="http://schemas.openxmlformats.org/drawingml/2006/main">
              <a:ext uri="{FF2B5EF4-FFF2-40B4-BE49-F238E27FC236}">
                <a16:creationId xmlns:a16="http://schemas.microsoft.com/office/drawing/2014/main" id="{A5C3ECDF-03DF-4082-85FB-517EA1924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895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定位：诊前信息整理，不诊断、不推荐药物、不替代医生</a:t>
            </a:r>
          </a:p>
        </p:txBody>
      </p:sp>
      <p:sp>
        <p:nvSpPr>
          <p:cNvPr id="7" name="cover-page">
            <a:extLst xmlns:a="http://schemas.openxmlformats.org/drawingml/2006/main">
              <a:ext uri="{FF2B5EF4-FFF2-40B4-BE49-F238E27FC236}">
                <a16:creationId xmlns:a16="http://schemas.microsoft.com/office/drawing/2014/main" id="{7EC5F6D8-9408-4520-B8A3-C1DE5531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10250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-2">
            <a:extLst xmlns:a="http://schemas.openxmlformats.org/drawingml/2006/main">
              <a:ext uri="{FF2B5EF4-FFF2-40B4-BE49-F238E27FC236}">
                <a16:creationId xmlns:a16="http://schemas.microsoft.com/office/drawing/2014/main" id="{696D4D7A-5335-4B98-942E-4DBBC40BD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VISIT READY AGENT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7A07D373-6A3A-46A4-ADEF-73294D19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一次输入，得到可以带去医院的结果</a:t>
            </a:r>
          </a:p>
        </p:txBody>
      </p:sp>
      <p:sp>
        <p:nvSpPr>
          <p:cNvPr id="3" name="header-rule-2">
            <a:extLst xmlns:a="http://schemas.openxmlformats.org/drawingml/2006/main">
              <a:ext uri="{FF2B5EF4-FFF2-40B4-BE49-F238E27FC236}">
                <a16:creationId xmlns:a16="http://schemas.microsoft.com/office/drawing/2014/main" id="{0A794709-5EB4-400C-BD92-CAD6D071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479A2CA0-42BD-4A84-B774-3F82ACAD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12118783314cf8"/>
          <a:stretch xmlns:a="http://schemas.openxmlformats.org/drawingml/2006/main"/>
        </p:blipFill>
        <p:spPr>
          <a:xfrm xmlns:a="http://schemas.openxmlformats.org/drawingml/2006/main">
            <a:off x="552450" y="2018140"/>
            <a:ext cx="6705600" cy="3774219"/>
          </a:xfrm>
          <a:prstGeom xmlns:a="http://schemas.openxmlformats.org/drawingml/2006/main" prst="roundRect">
            <a:avLst>
              <a:gd name="adj" fmla="val 1802"/>
            </a:avLst>
          </a:prstGeom>
        </p:spPr>
      </p:pic>
      <p:sp>
        <p:nvSpPr>
          <p:cNvPr id="6" name="screenshot-border">
            <a:extLst xmlns:a="http://schemas.openxmlformats.org/drawingml/2006/main">
              <a:ext uri="{FF2B5EF4-FFF2-40B4-BE49-F238E27FC236}">
                <a16:creationId xmlns:a16="http://schemas.microsoft.com/office/drawing/2014/main" id="{060C9BDB-9B2F-4D55-B626-54CDF13D7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6705600" cy="4229100"/>
          </a:xfrm>
          <a:prstGeom xmlns:a="http://schemas.openxmlformats.org/drawingml/2006/main" prst="roundRect">
            <a:avLst>
              <a:gd name="adj" fmla="val 1802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result-1-accent">
            <a:extLst xmlns:a="http://schemas.openxmlformats.org/drawingml/2006/main">
              <a:ext uri="{FF2B5EF4-FFF2-40B4-BE49-F238E27FC236}">
                <a16:creationId xmlns:a16="http://schemas.microsoft.com/office/drawing/2014/main" id="{AD5E582A-265E-4045-B354-729DB2C7C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09775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8" name="result-1-heading">
            <a:extLst xmlns:a="http://schemas.openxmlformats.org/drawingml/2006/main">
              <a:ext uri="{FF2B5EF4-FFF2-40B4-BE49-F238E27FC236}">
                <a16:creationId xmlns:a16="http://schemas.microsoft.com/office/drawing/2014/main" id="{8F702993-0ACE-4268-9D22-EC2EFD17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43100"/>
            <a:ext cx="3409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事实摘要</a:t>
            </a:r>
          </a:p>
        </p:txBody>
      </p:sp>
      <p:sp>
        <p:nvSpPr>
          <p:cNvPr id="9" name="result-1-body">
            <a:extLst xmlns:a="http://schemas.openxmlformats.org/drawingml/2006/main">
              <a:ext uri="{FF2B5EF4-FFF2-40B4-BE49-F238E27FC236}">
                <a16:creationId xmlns:a16="http://schemas.microsoft.com/office/drawing/2014/main" id="{97F19603-7632-49F0-A33E-F3C97E22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324100"/>
            <a:ext cx="3409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症状、时间、用药、过敏、检查；每项保留原文依据。</a:t>
            </a:r>
          </a:p>
        </p:txBody>
      </p:sp>
      <p:sp>
        <p:nvSpPr>
          <p:cNvPr id="10" name="result-2-accent">
            <a:extLst xmlns:a="http://schemas.openxmlformats.org/drawingml/2006/main">
              <a:ext uri="{FF2B5EF4-FFF2-40B4-BE49-F238E27FC236}">
                <a16:creationId xmlns:a16="http://schemas.microsoft.com/office/drawing/2014/main" id="{74335155-91AB-4929-AE87-C8E10B74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362325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16A34A"/>
            </a:solidFill>
            <a:prstDash val="solid"/>
          </a:ln>
        </p:spPr>
      </p:sp>
      <p:sp>
        <p:nvSpPr>
          <p:cNvPr id="11" name="result-2-heading">
            <a:extLst xmlns:a="http://schemas.openxmlformats.org/drawingml/2006/main">
              <a:ext uri="{FF2B5EF4-FFF2-40B4-BE49-F238E27FC236}">
                <a16:creationId xmlns:a16="http://schemas.microsoft.com/office/drawing/2014/main" id="{865A9335-AE26-4772-AF1D-0F4EFAD1F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295650"/>
            <a:ext cx="3409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最多追问一轮</a:t>
            </a:r>
          </a:p>
        </p:txBody>
      </p:sp>
      <p:sp>
        <p:nvSpPr>
          <p:cNvPr id="12" name="result-2-body">
            <a:extLst xmlns:a="http://schemas.openxmlformats.org/drawingml/2006/main">
              <a:ext uri="{FF2B5EF4-FFF2-40B4-BE49-F238E27FC236}">
                <a16:creationId xmlns:a16="http://schemas.microsoft.com/office/drawing/2014/main" id="{D3AFA002-19A9-41F8-905D-37B2DAD7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676650"/>
            <a:ext cx="3409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信息不足时再问，避免无休止对话。</a:t>
            </a:r>
          </a:p>
        </p:txBody>
      </p:sp>
      <p:sp>
        <p:nvSpPr>
          <p:cNvPr id="13" name="result-3-accent">
            <a:extLst xmlns:a="http://schemas.openxmlformats.org/drawingml/2006/main">
              <a:ext uri="{FF2B5EF4-FFF2-40B4-BE49-F238E27FC236}">
                <a16:creationId xmlns:a16="http://schemas.microsoft.com/office/drawing/2014/main" id="{6DA88F63-1E73-43C3-A870-6316F1B48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714875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4" name="result-3-heading">
            <a:extLst xmlns:a="http://schemas.openxmlformats.org/drawingml/2006/main">
              <a:ext uri="{FF2B5EF4-FFF2-40B4-BE49-F238E27FC236}">
                <a16:creationId xmlns:a16="http://schemas.microsoft.com/office/drawing/2014/main" id="{623300B2-84C1-4C26-BBAC-4ED7DD1C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48200"/>
            <a:ext cx="3409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就诊问题与导出</a:t>
            </a:r>
          </a:p>
        </p:txBody>
      </p:sp>
      <p:sp>
        <p:nvSpPr>
          <p:cNvPr id="15" name="result-3-body">
            <a:extLst xmlns:a="http://schemas.openxmlformats.org/drawingml/2006/main">
              <a:ext uri="{FF2B5EF4-FFF2-40B4-BE49-F238E27FC236}">
                <a16:creationId xmlns:a16="http://schemas.microsoft.com/office/drawing/2014/main" id="{63B748D6-4ECE-4283-A6F4-86A90159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029200"/>
            <a:ext cx="3409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核对后生成要问医生的问题，并导出 Markdown。</a:t>
            </a:r>
          </a:p>
        </p:txBody>
      </p:sp>
    </p:spTree>
    <p:extLst>
      <p:ext uri="{BB962C8B-B14F-4D97-AF65-F5344CB8AC3E}">
        <p14:creationId xmlns:p14="http://schemas.microsoft.com/office/powerpoint/2010/main" val="6928792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kicker-3">
            <a:extLst xmlns:a="http://schemas.openxmlformats.org/drawingml/2006/main">
              <a:ext uri="{FF2B5EF4-FFF2-40B4-BE49-F238E27FC236}">
                <a16:creationId xmlns:a16="http://schemas.microsoft.com/office/drawing/2014/main" id="{56880CBD-9C24-42CE-A3EF-CBE4906FE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VISIT READY AGENT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E70BA92C-1233-4A77-B322-571AD07D0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不是自由聊天，而是一条受约束工作流</a:t>
            </a:r>
          </a:p>
        </p:txBody>
      </p:sp>
      <p:sp>
        <p:nvSpPr>
          <p:cNvPr id="3" name="header-rule-3">
            <a:extLst xmlns:a="http://schemas.openxmlformats.org/drawingml/2006/main">
              <a:ext uri="{FF2B5EF4-FFF2-40B4-BE49-F238E27FC236}">
                <a16:creationId xmlns:a16="http://schemas.microsoft.com/office/drawing/2014/main" id="{8D0FD924-1118-4135-B14E-6EFC3F274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663643E0-EA0A-4CB2-855D-9AF32F70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flow-line-0">
            <a:extLst xmlns:a="http://schemas.openxmlformats.org/drawingml/2006/main">
              <a:ext uri="{FF2B5EF4-FFF2-40B4-BE49-F238E27FC236}">
                <a16:creationId xmlns:a16="http://schemas.microsoft.com/office/drawing/2014/main" id="{FD7CEAA0-BB38-4F7D-ACC3-33E5619D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324225"/>
            <a:ext cx="22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6" name="flow-line-1">
            <a:extLst xmlns:a="http://schemas.openxmlformats.org/drawingml/2006/main">
              <a:ext uri="{FF2B5EF4-FFF2-40B4-BE49-F238E27FC236}">
                <a16:creationId xmlns:a16="http://schemas.microsoft.com/office/drawing/2014/main" id="{AEBF95AD-8BC9-40A0-B738-1495BF4D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324225"/>
            <a:ext cx="22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7" name="flow-line-2">
            <a:extLst xmlns:a="http://schemas.openxmlformats.org/drawingml/2006/main">
              <a:ext uri="{FF2B5EF4-FFF2-40B4-BE49-F238E27FC236}">
                <a16:creationId xmlns:a16="http://schemas.microsoft.com/office/drawing/2014/main" id="{03FD634D-661B-426D-A78C-829278C2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24225"/>
            <a:ext cx="22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8" name="flow-line-3">
            <a:extLst xmlns:a="http://schemas.openxmlformats.org/drawingml/2006/main">
              <a:ext uri="{FF2B5EF4-FFF2-40B4-BE49-F238E27FC236}">
                <a16:creationId xmlns:a16="http://schemas.microsoft.com/office/drawing/2014/main" id="{CB9CBBD3-4C9B-4FD6-AB63-A2E932D3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24225"/>
            <a:ext cx="22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9" name="flow-line-4">
            <a:extLst xmlns:a="http://schemas.openxmlformats.org/drawingml/2006/main">
              <a:ext uri="{FF2B5EF4-FFF2-40B4-BE49-F238E27FC236}">
                <a16:creationId xmlns:a16="http://schemas.microsoft.com/office/drawing/2014/main" id="{A4DFDE57-AD8A-4C93-9718-0DC0FCC06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324225"/>
            <a:ext cx="22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10" name="flow-num-0">
            <a:extLst xmlns:a="http://schemas.openxmlformats.org/drawingml/2006/main">
              <a:ext uri="{FF2B5EF4-FFF2-40B4-BE49-F238E27FC236}">
                <a16:creationId xmlns:a16="http://schemas.microsoft.com/office/drawing/2014/main" id="{C09A133C-7ADA-41F1-BF91-441224DC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479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1" name="flow-label-0">
            <a:extLst xmlns:a="http://schemas.openxmlformats.org/drawingml/2006/main">
              <a:ext uri="{FF2B5EF4-FFF2-40B4-BE49-F238E27FC236}">
                <a16:creationId xmlns:a16="http://schemas.microsoft.com/office/drawing/2014/main" id="{543EFFD0-6CBD-4B16-B9A0-15F796FF8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86050"/>
            <a:ext cx="1752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输入校验</a:t>
            </a:r>
          </a:p>
        </p:txBody>
      </p:sp>
      <p:sp>
        <p:nvSpPr>
          <p:cNvPr id="12" name="flow-detail-0">
            <a:extLst xmlns:a="http://schemas.openxmlformats.org/drawingml/2006/main">
              <a:ext uri="{FF2B5EF4-FFF2-40B4-BE49-F238E27FC236}">
                <a16:creationId xmlns:a16="http://schemas.microsoft.com/office/drawing/2014/main" id="{8E8B22F2-654B-499C-AADF-FB5C0C84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33775"/>
            <a:ext cx="1752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长度 + PII</a:t>
            </a:r>
          </a:p>
        </p:txBody>
      </p:sp>
      <p:sp>
        <p:nvSpPr>
          <p:cNvPr id="13" name="flow-num-1">
            <a:extLst xmlns:a="http://schemas.openxmlformats.org/drawingml/2006/main">
              <a:ext uri="{FF2B5EF4-FFF2-40B4-BE49-F238E27FC236}">
                <a16:creationId xmlns:a16="http://schemas.microsoft.com/office/drawing/2014/main" id="{807532D2-45B4-43DF-8F02-2BC310C2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2479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flow-label-1">
            <a:extLst xmlns:a="http://schemas.openxmlformats.org/drawingml/2006/main">
              <a:ext uri="{FF2B5EF4-FFF2-40B4-BE49-F238E27FC236}">
                <a16:creationId xmlns:a16="http://schemas.microsoft.com/office/drawing/2014/main" id="{A90FA509-247E-4A17-B11F-FDB1F1F25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86050"/>
            <a:ext cx="1752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AI 事实提取</a:t>
            </a:r>
          </a:p>
        </p:txBody>
      </p:sp>
      <p:sp>
        <p:nvSpPr>
          <p:cNvPr id="15" name="flow-detail-1">
            <a:extLst xmlns:a="http://schemas.openxmlformats.org/drawingml/2006/main">
              <a:ext uri="{FF2B5EF4-FFF2-40B4-BE49-F238E27FC236}">
                <a16:creationId xmlns:a16="http://schemas.microsoft.com/office/drawing/2014/main" id="{E0325324-76FA-4FC5-BD98-E53FCCF8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33775"/>
            <a:ext cx="1752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结构化 JSON</a:t>
            </a:r>
          </a:p>
        </p:txBody>
      </p:sp>
      <p:sp>
        <p:nvSpPr>
          <p:cNvPr id="16" name="flow-num-2">
            <a:extLst xmlns:a="http://schemas.openxmlformats.org/drawingml/2006/main">
              <a:ext uri="{FF2B5EF4-FFF2-40B4-BE49-F238E27FC236}">
                <a16:creationId xmlns:a16="http://schemas.microsoft.com/office/drawing/2014/main" id="{5B736497-6323-4984-93D7-98B2F12EE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479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7" name="flow-label-2">
            <a:extLst xmlns:a="http://schemas.openxmlformats.org/drawingml/2006/main">
              <a:ext uri="{FF2B5EF4-FFF2-40B4-BE49-F238E27FC236}">
                <a16:creationId xmlns:a16="http://schemas.microsoft.com/office/drawing/2014/main" id="{0896D293-BF48-421F-A39C-157EE7C0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86050"/>
            <a:ext cx="1752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原文证据校验</a:t>
            </a:r>
          </a:p>
        </p:txBody>
      </p:sp>
      <p:sp>
        <p:nvSpPr>
          <p:cNvPr id="18" name="flow-detail-2">
            <a:extLst xmlns:a="http://schemas.openxmlformats.org/drawingml/2006/main">
              <a:ext uri="{FF2B5EF4-FFF2-40B4-BE49-F238E27FC236}">
                <a16:creationId xmlns:a16="http://schemas.microsoft.com/office/drawing/2014/main" id="{AE5450B8-D544-41DA-B80E-6631D772A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33775"/>
            <a:ext cx="1752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source_quote</a:t>
            </a:r>
          </a:p>
        </p:txBody>
      </p:sp>
      <p:sp>
        <p:nvSpPr>
          <p:cNvPr id="19" name="flow-num-3">
            <a:extLst xmlns:a="http://schemas.openxmlformats.org/drawingml/2006/main">
              <a:ext uri="{FF2B5EF4-FFF2-40B4-BE49-F238E27FC236}">
                <a16:creationId xmlns:a16="http://schemas.microsoft.com/office/drawing/2014/main" id="{7B75F3D5-8D61-4E4C-B649-71BE0C34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0" name="flow-label-3">
            <a:extLst xmlns:a="http://schemas.openxmlformats.org/drawingml/2006/main">
              <a:ext uri="{FF2B5EF4-FFF2-40B4-BE49-F238E27FC236}">
                <a16:creationId xmlns:a16="http://schemas.microsoft.com/office/drawing/2014/main" id="{DEC2AD5D-A40D-438F-88B8-F45F8093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86050"/>
            <a:ext cx="1752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可信域检索</a:t>
            </a:r>
          </a:p>
        </p:txBody>
      </p:sp>
      <p:sp>
        <p:nvSpPr>
          <p:cNvPr id="21" name="flow-detail-3">
            <a:extLst xmlns:a="http://schemas.openxmlformats.org/drawingml/2006/main">
              <a:ext uri="{FF2B5EF4-FFF2-40B4-BE49-F238E27FC236}">
                <a16:creationId xmlns:a16="http://schemas.microsoft.com/office/drawing/2014/main" id="{2A95CFA0-1215-40AC-A408-BD757B37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33775"/>
            <a:ext cx="1752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去标识化查询</a:t>
            </a:r>
          </a:p>
        </p:txBody>
      </p:sp>
      <p:sp>
        <p:nvSpPr>
          <p:cNvPr id="22" name="flow-num-4">
            <a:extLst xmlns:a="http://schemas.openxmlformats.org/drawingml/2006/main">
              <a:ext uri="{FF2B5EF4-FFF2-40B4-BE49-F238E27FC236}">
                <a16:creationId xmlns:a16="http://schemas.microsoft.com/office/drawing/2014/main" id="{B8B32962-2904-47CA-A212-36168789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479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3" name="flow-label-4">
            <a:extLst xmlns:a="http://schemas.openxmlformats.org/drawingml/2006/main">
              <a:ext uri="{FF2B5EF4-FFF2-40B4-BE49-F238E27FC236}">
                <a16:creationId xmlns:a16="http://schemas.microsoft.com/office/drawing/2014/main" id="{A9E484DF-F3B3-49C9-BA4C-B0E7D7623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86050"/>
            <a:ext cx="1752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AI 生成问题</a:t>
            </a:r>
          </a:p>
        </p:txBody>
      </p:sp>
      <p:sp>
        <p:nvSpPr>
          <p:cNvPr id="24" name="flow-detail-4">
            <a:extLst xmlns:a="http://schemas.openxmlformats.org/drawingml/2006/main">
              <a:ext uri="{FF2B5EF4-FFF2-40B4-BE49-F238E27FC236}">
                <a16:creationId xmlns:a16="http://schemas.microsoft.com/office/drawing/2014/main" id="{1321BF6C-7B4B-4EDA-ACBC-D42A9771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533775"/>
            <a:ext cx="1752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1–6 个问题</a:t>
            </a:r>
          </a:p>
        </p:txBody>
      </p:sp>
      <p:sp>
        <p:nvSpPr>
          <p:cNvPr id="25" name="flow-num-5">
            <a:extLst xmlns:a="http://schemas.openxmlformats.org/drawingml/2006/main">
              <a:ext uri="{FF2B5EF4-FFF2-40B4-BE49-F238E27FC236}">
                <a16:creationId xmlns:a16="http://schemas.microsoft.com/office/drawing/2014/main" id="{CEEF0671-7D00-43F5-B4AE-67020855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2479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6" name="flow-label-5">
            <a:extLst xmlns:a="http://schemas.openxmlformats.org/drawingml/2006/main">
              <a:ext uri="{FF2B5EF4-FFF2-40B4-BE49-F238E27FC236}">
                <a16:creationId xmlns:a16="http://schemas.microsoft.com/office/drawing/2014/main" id="{3ABE3B58-95F9-41F6-B0C9-DDB5E7241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686050"/>
            <a:ext cx="1752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人工确认</a:t>
            </a:r>
          </a:p>
        </p:txBody>
      </p:sp>
      <p:sp>
        <p:nvSpPr>
          <p:cNvPr id="27" name="flow-detail-5">
            <a:extLst xmlns:a="http://schemas.openxmlformats.org/drawingml/2006/main">
              <a:ext uri="{FF2B5EF4-FFF2-40B4-BE49-F238E27FC236}">
                <a16:creationId xmlns:a16="http://schemas.microsoft.com/office/drawing/2014/main" id="{5C1D5D19-D943-4BF0-9E42-599EC371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533775"/>
            <a:ext cx="1752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确认后导出</a:t>
            </a:r>
          </a:p>
        </p:txBody>
      </p:sp>
      <p:sp>
        <p:nvSpPr>
          <p:cNvPr id="28" name="flow-eino">
            <a:extLst xmlns:a="http://schemas.openxmlformats.org/drawingml/2006/main">
              <a:ext uri="{FF2B5EF4-FFF2-40B4-BE49-F238E27FC236}">
                <a16:creationId xmlns:a16="http://schemas.microsoft.com/office/drawing/2014/main" id="{1CA75CAC-7E86-45B5-994E-364987DF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339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Eino Graph 决定步骤与状态；模型只完成被允许的结构化任务。</a:t>
            </a:r>
          </a:p>
        </p:txBody>
      </p:sp>
      <p:sp>
        <p:nvSpPr>
          <p:cNvPr id="29" name="flow-degrade">
            <a:extLst xmlns:a="http://schemas.openxmlformats.org/drawingml/2006/main">
              <a:ext uri="{FF2B5EF4-FFF2-40B4-BE49-F238E27FC236}">
                <a16:creationId xmlns:a16="http://schemas.microsoft.com/office/drawing/2014/main" id="{1005A9ED-337A-444A-BD69-57E600F65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007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搜索失败可降级，患者事实不能由搜索结果补写。</a:t>
            </a:r>
          </a:p>
        </p:txBody>
      </p:sp>
    </p:spTree>
    <p:extLst>
      <p:ext uri="{BB962C8B-B14F-4D97-AF65-F5344CB8AC3E}">
        <p14:creationId xmlns:p14="http://schemas.microsoft.com/office/powerpoint/2010/main" val="9235169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kicker-4">
            <a:extLst xmlns:a="http://schemas.openxmlformats.org/drawingml/2006/main">
              <a:ext uri="{FF2B5EF4-FFF2-40B4-BE49-F238E27FC236}">
                <a16:creationId xmlns:a16="http://schemas.microsoft.com/office/drawing/2014/main" id="{78E1E4C6-D6A1-410D-B19D-24A10E5B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VISIT READY AGENT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F7278CE5-F7BB-41E7-BE70-B0F92276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医疗场景的准确性，来自可验证边界</a:t>
            </a:r>
          </a:p>
        </p:txBody>
      </p:sp>
      <p:sp>
        <p:nvSpPr>
          <p:cNvPr id="3" name="header-rule-4">
            <a:extLst xmlns:a="http://schemas.openxmlformats.org/drawingml/2006/main">
              <a:ext uri="{FF2B5EF4-FFF2-40B4-BE49-F238E27FC236}">
                <a16:creationId xmlns:a16="http://schemas.microsoft.com/office/drawing/2014/main" id="{2FA3F4A5-6D88-41E9-948C-E35883BF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6314F628-F8DF-44BA-BE82-D8884A98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safety-left-title">
            <a:extLst xmlns:a="http://schemas.openxmlformats.org/drawingml/2006/main">
              <a:ext uri="{FF2B5EF4-FFF2-40B4-BE49-F238E27FC236}">
                <a16:creationId xmlns:a16="http://schemas.microsoft.com/office/drawing/2014/main" id="{0F5B1D91-720E-47C5-9C36-5900201DA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621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患者事实</a:t>
            </a:r>
          </a:p>
        </p:txBody>
      </p:sp>
      <p:sp>
        <p:nvSpPr>
          <p:cNvPr id="6" name="safety-left-body">
            <a:extLst xmlns:a="http://schemas.openxmlformats.org/drawingml/2006/main">
              <a:ext uri="{FF2B5EF4-FFF2-40B4-BE49-F238E27FC236}">
                <a16:creationId xmlns:a16="http://schemas.microsoft.com/office/drawing/2014/main" id="{2559677B-772D-49C5-B847-C936B04B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38425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只来自用户原文</a:t>
            </a:r>
          </a:p>
          <a:p xmlns:a="http://schemas.openxmlformats.org/drawingml/2006/main">
            <a:pPr algn="l">
              <a:def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每条必须带精确 source_quote</a:t>
            </a:r>
          </a:p>
          <a:p xmlns:a="http://schemas.openxmlformats.org/drawingml/2006/main">
            <a:pPr algn="l">
              <a:def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未通过校验的事实直接拒绝</a:t>
            </a:r>
          </a:p>
        </p:txBody>
      </p:sp>
      <p:sp>
        <p:nvSpPr>
          <p:cNvPr id="7" name="safety-right-title">
            <a:extLst xmlns:a="http://schemas.openxmlformats.org/drawingml/2006/main">
              <a:ext uri="{FF2B5EF4-FFF2-40B4-BE49-F238E27FC236}">
                <a16:creationId xmlns:a16="http://schemas.microsoft.com/office/drawing/2014/main" id="{1024C9D1-FD79-4212-A70C-111C88BA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9621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外部资料</a:t>
            </a:r>
          </a:p>
        </p:txBody>
      </p:sp>
      <p:sp>
        <p:nvSpPr>
          <p:cNvPr id="8" name="safety-right-body">
            <a:extLst xmlns:a="http://schemas.openxmlformats.org/drawingml/2006/main">
              <a:ext uri="{FF2B5EF4-FFF2-40B4-BE49-F238E27FC236}">
                <a16:creationId xmlns:a16="http://schemas.microsoft.com/office/drawing/2014/main" id="{DCB27BBE-86B9-46DF-B2D3-E0578EC4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38425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只用通用医学主题检索</a:t>
            </a:r>
          </a:p>
          <a:p xmlns:a="http://schemas.openxmlformats.org/drawingml/2006/main">
            <a:pPr algn="l">
              <a:def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仅允许 WHO、国家卫健委、CDC 等 HTTPS 域名</a:t>
            </a:r>
          </a:p>
          <a:p xmlns:a="http://schemas.openxmlformats.org/drawingml/2006/main">
            <a:pPr algn="l">
              <a:def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资料与患者事实分区显示</a:t>
            </a:r>
          </a:p>
        </p:txBody>
      </p:sp>
      <p:sp>
        <p:nvSpPr>
          <p:cNvPr id="9" name="safety-divider">
            <a:extLst xmlns:a="http://schemas.openxmlformats.org/drawingml/2006/main">
              <a:ext uri="{FF2B5EF4-FFF2-40B4-BE49-F238E27FC236}">
                <a16:creationId xmlns:a16="http://schemas.microsoft.com/office/drawing/2014/main" id="{B1428BB2-C61B-4774-87B3-6A147525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952625"/>
            <a:ext cx="190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10" name="safety-stop">
            <a:extLst xmlns:a="http://schemas.openxmlformats.org/drawingml/2006/main">
              <a:ext uri="{FF2B5EF4-FFF2-40B4-BE49-F238E27FC236}">
                <a16:creationId xmlns:a16="http://schemas.microsoft.com/office/drawing/2014/main" id="{C16A3A99-5B6E-4564-8462-9043CAC4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38700"/>
            <a:ext cx="1076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输出守卫：禁止诊断推断、处方/停药建议和越界医疗指令</a:t>
            </a:r>
          </a:p>
        </p:txBody>
      </p:sp>
      <p:sp>
        <p:nvSpPr>
          <p:cNvPr id="11" name="safety-privacy">
            <a:extLst xmlns:a="http://schemas.openxmlformats.org/drawingml/2006/main">
              <a:ext uri="{FF2B5EF4-FFF2-40B4-BE49-F238E27FC236}">
                <a16:creationId xmlns:a16="http://schemas.microsoft.com/office/drawing/2014/main" id="{1DACF168-B098-4659-A762-93B369A18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67375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隐私守卫覆盖手机号、身份证、姓名、住址、病历号、微信号、护照号等直接标识符。</a:t>
            </a:r>
          </a:p>
        </p:txBody>
      </p:sp>
    </p:spTree>
    <p:extLst>
      <p:ext uri="{BB962C8B-B14F-4D97-AF65-F5344CB8AC3E}">
        <p14:creationId xmlns:p14="http://schemas.microsoft.com/office/powerpoint/2010/main" val="3080366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kicker-5">
            <a:extLst xmlns:a="http://schemas.openxmlformats.org/drawingml/2006/main">
              <a:ext uri="{FF2B5EF4-FFF2-40B4-BE49-F238E27FC236}">
                <a16:creationId xmlns:a16="http://schemas.microsoft.com/office/drawing/2014/main" id="{B01CD56A-5313-4CDE-9D85-08F71327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VISIT READY AGENT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F3C08C1B-9EBB-4BBD-AE79-4542DC96D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现场代码只看三处，就能讲清调用链</a:t>
            </a:r>
          </a:p>
        </p:txBody>
      </p:sp>
      <p:sp>
        <p:nvSpPr>
          <p:cNvPr id="3" name="header-rule-5">
            <a:extLst xmlns:a="http://schemas.openxmlformats.org/drawingml/2006/main">
              <a:ext uri="{FF2B5EF4-FFF2-40B4-BE49-F238E27FC236}">
                <a16:creationId xmlns:a16="http://schemas.microsoft.com/office/drawing/2014/main" id="{72F8A154-8700-498B-9CE6-092CB8431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F544A7FC-C0E5-498A-AE59-9842A047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code-entry-title">
            <a:extLst xmlns:a="http://schemas.openxmlformats.org/drawingml/2006/main">
              <a:ext uri="{FF2B5EF4-FFF2-40B4-BE49-F238E27FC236}">
                <a16:creationId xmlns:a16="http://schemas.microsoft.com/office/drawing/2014/main" id="{656CCA2B-27EC-496C-BFE0-93F61141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  程序从哪里开始</a:t>
            </a:r>
          </a:p>
        </p:txBody>
      </p:sp>
      <p:sp>
        <p:nvSpPr>
          <p:cNvPr id="6" name="code-entry-code">
            <a:extLst xmlns:a="http://schemas.openxmlformats.org/drawingml/2006/main">
              <a:ext uri="{FF2B5EF4-FFF2-40B4-BE49-F238E27FC236}">
                <a16:creationId xmlns:a16="http://schemas.microsoft.com/office/drawing/2014/main" id="{D151EAB4-1E2D-4DB6-B6E1-93487408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3333750" cy="3495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rPr>
              <a:t>cmd/server/main.go:33</a:t>
            </a:r>
          </a:p>
          <a:p xmlns:a="http://schemas.openxmlformats.org/drawingml/2006/main">
            <a:pPr algn="l">
              <a:def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rPr>
              <a:t>func main() {</a:t>
            </a:r>
          </a:p>
          <a:p xmlns:a="http://schemas.openxmlformats.org/drawingml/2006/main">
            <a:pPr algn="l">
              <a:def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rPr>
              <a:t>  execute(ctx, os.LookupEnv, logger)</a:t>
            </a:r>
          </a:p>
          <a:p xmlns:a="http://schemas.openxmlformats.org/drawingml/2006/main">
            <a:pPr algn="l">
              <a:def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rPr>
              <a:t>main.go:93</a:t>
            </a:r>
          </a:p>
          <a:p xmlns:a="http://schemas.openxmlformats.org/drawingml/2006/main">
            <a:pPr algn="l">
              <a:def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rPr>
              <a:t>buildHandler(...)</a:t>
            </a:r>
          </a:p>
        </p:txBody>
      </p:sp>
      <p:sp>
        <p:nvSpPr>
          <p:cNvPr id="7" name="code-ai-title">
            <a:extLst xmlns:a="http://schemas.openxmlformats.org/drawingml/2006/main">
              <a:ext uri="{FF2B5EF4-FFF2-40B4-BE49-F238E27FC236}">
                <a16:creationId xmlns:a16="http://schemas.microsoft.com/office/drawing/2014/main" id="{C8B6D096-D78B-431A-A54A-84EA6445B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907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  AI 在哪一行调用</a:t>
            </a:r>
          </a:p>
        </p:txBody>
      </p:sp>
      <p:sp>
        <p:nvSpPr>
          <p:cNvPr id="8" name="code-ai-code">
            <a:extLst xmlns:a="http://schemas.openxmlformats.org/drawingml/2006/main">
              <a:ext uri="{FF2B5EF4-FFF2-40B4-BE49-F238E27FC236}">
                <a16:creationId xmlns:a16="http://schemas.microsoft.com/office/drawing/2014/main" id="{4B386739-F278-41F8-A182-84FC5604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152650"/>
            <a:ext cx="3333750" cy="3495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rPr>
              <a:t>internal/llm/openai.go:129</a:t>
            </a:r>
          </a:p>
          <a:p xmlns:a="http://schemas.openxmlformats.org/drawingml/2006/main">
            <a:pPr algn="l">
              <a:def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rPr>
              <a:t>resp, err := c.httpClient.Do(req)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rPr>
              <a:t>openai.go:70 / 87</a:t>
            </a:r>
          </a:p>
          <a:p xmlns:a="http://schemas.openxmlformats.org/drawingml/2006/main">
            <a:pPr algn="l">
              <a:def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rPr>
              <a:t>Extract(...)</a:t>
            </a:r>
          </a:p>
          <a:p xmlns:a="http://schemas.openxmlformats.org/drawingml/2006/main">
            <a:pPr algn="l">
              <a:def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rPr>
              <a:t>GenerateQuestions(...)</a:t>
            </a:r>
          </a:p>
        </p:txBody>
      </p:sp>
      <p:sp>
        <p:nvSpPr>
          <p:cNvPr id="9" name="code-result-title">
            <a:extLst xmlns:a="http://schemas.openxmlformats.org/drawingml/2006/main">
              <a:ext uri="{FF2B5EF4-FFF2-40B4-BE49-F238E27FC236}">
                <a16:creationId xmlns:a16="http://schemas.microsoft.com/office/drawing/2014/main" id="{2F2005B9-3C9D-4165-B69D-B0B2B4FC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7907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 结果最后用到哪里</a:t>
            </a:r>
          </a:p>
        </p:txBody>
      </p:sp>
      <p:sp>
        <p:nvSpPr>
          <p:cNvPr id="10" name="code-result-code">
            <a:extLst xmlns:a="http://schemas.openxmlformats.org/drawingml/2006/main">
              <a:ext uri="{FF2B5EF4-FFF2-40B4-BE49-F238E27FC236}">
                <a16:creationId xmlns:a16="http://schemas.microsoft.com/office/drawing/2014/main" id="{5680F033-0C89-43A0-8557-CB6F6004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52650"/>
            <a:ext cx="3333750" cy="3495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rPr>
              <a:t>runner.go:108</a:t>
            </a:r>
          </a:p>
          <a:p xmlns:a="http://schemas.openxmlformats.org/drawingml/2006/main">
            <a:pPr algn="l">
              <a:def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rPr>
              <a:t>workflow.Invoke(...)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rPr>
              <a:t>app.js:184–186</a:t>
            </a:r>
          </a:p>
          <a:p xmlns:a="http://schemas.openxmlformats.org/drawingml/2006/main">
            <a:pPr algn="l">
              <a:def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rPr>
              <a:t>renderFacts(session.facts)</a:t>
            </a:r>
          </a:p>
          <a:p xmlns:a="http://schemas.openxmlformats.org/drawingml/2006/main">
            <a:pPr algn="l">
              <a:def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rPr>
              <a:t>renderQuestions(session.questions)</a:t>
            </a:r>
          </a:p>
          <a:p xmlns:a="http://schemas.openxmlformats.org/drawingml/2006/main">
            <a:pPr algn="l">
              <a:def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>
                <a:solidFill>
                  <a:srgbClr val="E2E8F0"/>
                </a:solidFill>
                <a:latin typeface="Cascadia Mono"/>
                <a:ea typeface="Cascadia Mono"/>
                <a:cs typeface="Cascadia Mono"/>
              </a:rPr>
              <a:t>renderSources(session.sources)</a:t>
            </a:r>
          </a:p>
        </p:txBody>
      </p:sp>
      <p:sp>
        <p:nvSpPr>
          <p:cNvPr id="11" name="code-caption">
            <a:extLst xmlns:a="http://schemas.openxmlformats.org/drawingml/2006/main">
              <a:ext uri="{FF2B5EF4-FFF2-40B4-BE49-F238E27FC236}">
                <a16:creationId xmlns:a16="http://schemas.microsoft.com/office/drawing/2014/main" id="{1EB7762C-4569-44A1-8951-5AA25944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真实 HTTP 请求 → 严格 JSON 解码 → Agent 会话 → 页面核对 / Markdown 导出</a:t>
            </a:r>
          </a:p>
        </p:txBody>
      </p:sp>
    </p:spTree>
    <p:extLst>
      <p:ext uri="{BB962C8B-B14F-4D97-AF65-F5344CB8AC3E}">
        <p14:creationId xmlns:p14="http://schemas.microsoft.com/office/powerpoint/2010/main" val="13936452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kicker-6">
            <a:extLst xmlns:a="http://schemas.openxmlformats.org/drawingml/2006/main">
              <a:ext uri="{FF2B5EF4-FFF2-40B4-BE49-F238E27FC236}">
                <a16:creationId xmlns:a16="http://schemas.microsoft.com/office/drawing/2014/main" id="{4CCB2E88-397F-43BD-97BA-73548AE17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VISIT READY AGENT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46EBC02E-C8C7-4F34-BF36-942BB293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一条 Docker 命令启动，也保留生产部署路径</a:t>
            </a:r>
          </a:p>
        </p:txBody>
      </p:sp>
      <p:sp>
        <p:nvSpPr>
          <p:cNvPr id="3" name="header-rule-6">
            <a:extLst xmlns:a="http://schemas.openxmlformats.org/drawingml/2006/main">
              <a:ext uri="{FF2B5EF4-FFF2-40B4-BE49-F238E27FC236}">
                <a16:creationId xmlns:a16="http://schemas.microsoft.com/office/drawing/2014/main" id="{0250EBF6-77FD-44EE-A61A-1049159D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4" name="page-6">
            <a:extLst xmlns:a="http://schemas.openxmlformats.org/drawingml/2006/main">
              <a:ext uri="{FF2B5EF4-FFF2-40B4-BE49-F238E27FC236}">
                <a16:creationId xmlns:a16="http://schemas.microsoft.com/office/drawing/2014/main" id="{8327B08A-C81B-419E-A861-E31E0D5D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docker-command">
            <a:extLst xmlns:a="http://schemas.openxmlformats.org/drawingml/2006/main">
              <a:ext uri="{FF2B5EF4-FFF2-40B4-BE49-F238E27FC236}">
                <a16:creationId xmlns:a16="http://schemas.microsoft.com/office/drawing/2014/main" id="{820E843B-52C9-496B-9366-39F8DA02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47850"/>
            <a:ext cx="6858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pPr>
            <a:r>
              <a:rPr sz="2400" b="1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docker compose up --build -d</a:t>
            </a:r>
          </a:p>
        </p:txBody>
      </p:sp>
      <p:sp>
        <p:nvSpPr>
          <p:cNvPr id="6" name="container-proof">
            <a:extLst xmlns:a="http://schemas.openxmlformats.org/drawingml/2006/main">
              <a:ext uri="{FF2B5EF4-FFF2-40B4-BE49-F238E27FC236}">
                <a16:creationId xmlns:a16="http://schemas.microsoft.com/office/drawing/2014/main" id="{58B620C2-FEA6-489B-A4ED-08CB1FC6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289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容器运行证据</a:t>
            </a:r>
          </a:p>
        </p:txBody>
      </p:sp>
      <p:sp>
        <p:nvSpPr>
          <p:cNvPr id="7" name="container-list">
            <a:extLst xmlns:a="http://schemas.openxmlformats.org/drawingml/2006/main">
              <a:ext uri="{FF2B5EF4-FFF2-40B4-BE49-F238E27FC236}">
                <a16:creationId xmlns:a16="http://schemas.microsoft.com/office/drawing/2014/main" id="{F09C083A-19F4-45EC-A7AC-78F717DD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非 root 用户 10001</a:t>
            </a:r>
          </a:p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只读根文件系统</a:t>
            </a:r>
          </a:p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Linux capabilities 全部移除</a:t>
            </a:r>
          </a:p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健康检查 + PID / CPU / 内存限制</a:t>
            </a:r>
          </a:p>
        </p:txBody>
      </p:sp>
      <p:sp>
        <p:nvSpPr>
          <p:cNvPr id="8" name="quality-proof">
            <a:extLst xmlns:a="http://schemas.openxmlformats.org/drawingml/2006/main">
              <a:ext uri="{FF2B5EF4-FFF2-40B4-BE49-F238E27FC236}">
                <a16:creationId xmlns:a16="http://schemas.microsoft.com/office/drawing/2014/main" id="{9BBC3CAA-E700-49CA-A125-F8E518DE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289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自动化验证</a:t>
            </a:r>
          </a:p>
        </p:txBody>
      </p:sp>
      <p:sp>
        <p:nvSpPr>
          <p:cNvPr id="9" name="quality-list">
            <a:extLst xmlns:a="http://schemas.openxmlformats.org/drawingml/2006/main">
              <a:ext uri="{FF2B5EF4-FFF2-40B4-BE49-F238E27FC236}">
                <a16:creationId xmlns:a16="http://schemas.microsoft.com/office/drawing/2014/main" id="{6CA0DCFD-75C1-42DA-BAE9-F82CA389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38550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go test ./...  全部通过</a:t>
            </a:r>
          </a:p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go vet ./...  通过</a:t>
            </a:r>
          </a:p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核心包覆盖率 83.1%–97.4%</a:t>
            </a:r>
          </a:p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桌面 / 390px 移动端无横向溢出</a:t>
            </a:r>
          </a:p>
        </p:txBody>
      </p:sp>
      <p:sp>
        <p:nvSpPr>
          <p:cNvPr id="10" name="k8s-note">
            <a:extLst xmlns:a="http://schemas.openxmlformats.org/drawingml/2006/main">
              <a:ext uri="{FF2B5EF4-FFF2-40B4-BE49-F238E27FC236}">
                <a16:creationId xmlns:a16="http://schemas.microsoft.com/office/drawing/2014/main" id="{53AD387D-2E3E-4E9D-BA36-663E2FBC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0"/>
            <a:ext cx="1076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Kubernetes 清单：Secret 注入、探针、资源限制、默认 seccomp；当前内存会话设计固定为 1 副本。</a:t>
            </a:r>
          </a:p>
        </p:txBody>
      </p:sp>
    </p:spTree>
    <p:extLst>
      <p:ext uri="{BB962C8B-B14F-4D97-AF65-F5344CB8AC3E}">
        <p14:creationId xmlns:p14="http://schemas.microsoft.com/office/powerpoint/2010/main" val="14481728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kicker-7">
            <a:extLst xmlns:a="http://schemas.openxmlformats.org/drawingml/2006/main">
              <a:ext uri="{FF2B5EF4-FFF2-40B4-BE49-F238E27FC236}">
                <a16:creationId xmlns:a16="http://schemas.microsoft.com/office/drawing/2014/main" id="{B204B724-387C-4715-A9B7-8DCCEFA1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VISIT READY AGENT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13B0D0A5-3B2C-45A0-ABC0-70119CAF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8 分钟现场演示：先跑结果，再打开代码</a:t>
            </a:r>
          </a:p>
        </p:txBody>
      </p:sp>
      <p:sp>
        <p:nvSpPr>
          <p:cNvPr id="3" name="header-rule-7">
            <a:extLst xmlns:a="http://schemas.openxmlformats.org/drawingml/2006/main">
              <a:ext uri="{FF2B5EF4-FFF2-40B4-BE49-F238E27FC236}">
                <a16:creationId xmlns:a16="http://schemas.microsoft.com/office/drawing/2014/main" id="{D8210AA3-9CBC-4C1C-89EF-CE189112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4" name="page-7">
            <a:extLst xmlns:a="http://schemas.openxmlformats.org/drawingml/2006/main">
              <a:ext uri="{FF2B5EF4-FFF2-40B4-BE49-F238E27FC236}">
                <a16:creationId xmlns:a16="http://schemas.microsoft.com/office/drawing/2014/main" id="{1E4028AB-0775-4435-8364-A6A8EA6F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timeline-rule">
            <a:extLst xmlns:a="http://schemas.openxmlformats.org/drawingml/2006/main">
              <a:ext uri="{FF2B5EF4-FFF2-40B4-BE49-F238E27FC236}">
                <a16:creationId xmlns:a16="http://schemas.microsoft.com/office/drawing/2014/main" id="{6CF376E0-87E9-4CFA-874A-4392E0D0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81350"/>
            <a:ext cx="11010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6" name="time-0">
            <a:extLst xmlns:a="http://schemas.openxmlformats.org/drawingml/2006/main">
              <a:ext uri="{FF2B5EF4-FFF2-40B4-BE49-F238E27FC236}">
                <a16:creationId xmlns:a16="http://schemas.microsoft.com/office/drawing/2014/main" id="{3FF8B963-287C-4E7A-BE90-FDC9CF42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0–1 分钟</a:t>
            </a:r>
          </a:p>
        </p:txBody>
      </p:sp>
      <p:sp>
        <p:nvSpPr>
          <p:cNvPr id="7" name="time-name-0">
            <a:extLst xmlns:a="http://schemas.openxmlformats.org/drawingml/2006/main">
              <a:ext uri="{FF2B5EF4-FFF2-40B4-BE49-F238E27FC236}">
                <a16:creationId xmlns:a16="http://schemas.microsoft.com/office/drawing/2014/main" id="{616B38AC-3A87-4C74-A2F1-D175701D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05075"/>
            <a:ext cx="2038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启动</a:t>
            </a:r>
          </a:p>
        </p:txBody>
      </p:sp>
      <p:sp>
        <p:nvSpPr>
          <p:cNvPr id="8" name="time-dot-0">
            <a:extLst xmlns:a="http://schemas.openxmlformats.org/drawingml/2006/main">
              <a:ext uri="{FF2B5EF4-FFF2-40B4-BE49-F238E27FC236}">
                <a16:creationId xmlns:a16="http://schemas.microsoft.com/office/drawing/2014/main" id="{F5A00ED6-9F5A-4A4F-B585-99FEA8F47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9" name="time-body-0">
            <a:extLst xmlns:a="http://schemas.openxmlformats.org/drawingml/2006/main">
              <a:ext uri="{FF2B5EF4-FFF2-40B4-BE49-F238E27FC236}">
                <a16:creationId xmlns:a16="http://schemas.microsoft.com/office/drawing/2014/main" id="{576D8E21-65F9-46FC-97AB-DE7819E5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0"/>
            <a:ext cx="20383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compose ps</a:t>
            </a:r>
          </a:p>
          <a:p xmlns:a="http://schemas.openxmlformats.org/drawingml/2006/main">
            <a:pPr algn="l"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healthz</a:t>
            </a:r>
          </a:p>
        </p:txBody>
      </p:sp>
      <p:sp>
        <p:nvSpPr>
          <p:cNvPr id="10" name="time-1">
            <a:extLst xmlns:a="http://schemas.openxmlformats.org/drawingml/2006/main">
              <a:ext uri="{FF2B5EF4-FFF2-40B4-BE49-F238E27FC236}">
                <a16:creationId xmlns:a16="http://schemas.microsoft.com/office/drawing/2014/main" id="{DCC25846-27B2-48B1-A283-C8DCFF79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19300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1–3 分钟</a:t>
            </a:r>
          </a:p>
        </p:txBody>
      </p:sp>
      <p:sp>
        <p:nvSpPr>
          <p:cNvPr id="11" name="time-name-1">
            <a:extLst xmlns:a="http://schemas.openxmlformats.org/drawingml/2006/main">
              <a:ext uri="{FF2B5EF4-FFF2-40B4-BE49-F238E27FC236}">
                <a16:creationId xmlns:a16="http://schemas.microsoft.com/office/drawing/2014/main" id="{85A3B9E1-C581-467D-897D-976477328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05075"/>
            <a:ext cx="2038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真实输入</a:t>
            </a:r>
          </a:p>
        </p:txBody>
      </p:sp>
      <p:sp>
        <p:nvSpPr>
          <p:cNvPr id="12" name="time-dot-1">
            <a:extLst xmlns:a="http://schemas.openxmlformats.org/drawingml/2006/main">
              <a:ext uri="{FF2B5EF4-FFF2-40B4-BE49-F238E27FC236}">
                <a16:creationId xmlns:a16="http://schemas.microsoft.com/office/drawing/2014/main" id="{E125E949-86FC-4DF8-967D-62610907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861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13" name="time-body-1">
            <a:extLst xmlns:a="http://schemas.openxmlformats.org/drawingml/2006/main">
              <a:ext uri="{FF2B5EF4-FFF2-40B4-BE49-F238E27FC236}">
                <a16:creationId xmlns:a16="http://schemas.microsoft.com/office/drawing/2014/main" id="{C28C0E4B-9763-484F-BA22-03AFE9A7C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24250"/>
            <a:ext cx="20383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粘贴合成病情</a:t>
            </a:r>
          </a:p>
          <a:p xmlns:a="http://schemas.openxmlformats.org/drawingml/2006/main">
            <a:pPr algn="l"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开启联网检索</a:t>
            </a:r>
          </a:p>
        </p:txBody>
      </p:sp>
      <p:sp>
        <p:nvSpPr>
          <p:cNvPr id="14" name="time-2">
            <a:extLst xmlns:a="http://schemas.openxmlformats.org/drawingml/2006/main">
              <a:ext uri="{FF2B5EF4-FFF2-40B4-BE49-F238E27FC236}">
                <a16:creationId xmlns:a16="http://schemas.microsoft.com/office/drawing/2014/main" id="{F500525F-B995-49E2-B18B-3C80A2E9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019300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3–5 分钟</a:t>
            </a:r>
          </a:p>
        </p:txBody>
      </p:sp>
      <p:sp>
        <p:nvSpPr>
          <p:cNvPr id="15" name="time-name-2">
            <a:extLst xmlns:a="http://schemas.openxmlformats.org/drawingml/2006/main">
              <a:ext uri="{FF2B5EF4-FFF2-40B4-BE49-F238E27FC236}">
                <a16:creationId xmlns:a16="http://schemas.microsoft.com/office/drawing/2014/main" id="{8B721A36-07E3-49F7-AD6A-752590EC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505075"/>
            <a:ext cx="2038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处理</a:t>
            </a:r>
          </a:p>
        </p:txBody>
      </p:sp>
      <p:sp>
        <p:nvSpPr>
          <p:cNvPr id="16" name="time-dot-2">
            <a:extLst xmlns:a="http://schemas.openxmlformats.org/drawingml/2006/main">
              <a:ext uri="{FF2B5EF4-FFF2-40B4-BE49-F238E27FC236}">
                <a16:creationId xmlns:a16="http://schemas.microsoft.com/office/drawing/2014/main" id="{3D355B4D-7C22-4848-B028-1F3FD1E5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0861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17" name="time-body-2">
            <a:extLst xmlns:a="http://schemas.openxmlformats.org/drawingml/2006/main">
              <a:ext uri="{FF2B5EF4-FFF2-40B4-BE49-F238E27FC236}">
                <a16:creationId xmlns:a16="http://schemas.microsoft.com/office/drawing/2014/main" id="{AB220B71-100F-4EFE-BFC9-7C390841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24250"/>
            <a:ext cx="20383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追问一轮</a:t>
            </a:r>
          </a:p>
          <a:p xmlns:a="http://schemas.openxmlformats.org/drawingml/2006/main">
            <a:pPr algn="l"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事实与可信来源</a:t>
            </a:r>
          </a:p>
        </p:txBody>
      </p:sp>
      <p:sp>
        <p:nvSpPr>
          <p:cNvPr id="18" name="time-3">
            <a:extLst xmlns:a="http://schemas.openxmlformats.org/drawingml/2006/main">
              <a:ext uri="{FF2B5EF4-FFF2-40B4-BE49-F238E27FC236}">
                <a16:creationId xmlns:a16="http://schemas.microsoft.com/office/drawing/2014/main" id="{C4D24920-96E0-4A33-AC57-259C00B1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019300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5–6 分钟</a:t>
            </a:r>
          </a:p>
        </p:txBody>
      </p:sp>
      <p:sp>
        <p:nvSpPr>
          <p:cNvPr id="19" name="time-name-3">
            <a:extLst xmlns:a="http://schemas.openxmlformats.org/drawingml/2006/main">
              <a:ext uri="{FF2B5EF4-FFF2-40B4-BE49-F238E27FC236}">
                <a16:creationId xmlns:a16="http://schemas.microsoft.com/office/drawing/2014/main" id="{9B665D36-3276-47BA-ADCE-BED4F271D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505075"/>
            <a:ext cx="2038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确认导出</a:t>
            </a:r>
          </a:p>
        </p:txBody>
      </p:sp>
      <p:sp>
        <p:nvSpPr>
          <p:cNvPr id="20" name="time-dot-3">
            <a:extLst xmlns:a="http://schemas.openxmlformats.org/drawingml/2006/main">
              <a:ext uri="{FF2B5EF4-FFF2-40B4-BE49-F238E27FC236}">
                <a16:creationId xmlns:a16="http://schemas.microsoft.com/office/drawing/2014/main" id="{936A41DB-8715-477C-AA39-A77E4A97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861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21" name="time-body-3">
            <a:extLst xmlns:a="http://schemas.openxmlformats.org/drawingml/2006/main">
              <a:ext uri="{FF2B5EF4-FFF2-40B4-BE49-F238E27FC236}">
                <a16:creationId xmlns:a16="http://schemas.microsoft.com/office/drawing/2014/main" id="{36E39136-513F-4C8C-B9FD-C9BB2CBF0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524250"/>
            <a:ext cx="20383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填写就诊目标</a:t>
            </a:r>
          </a:p>
          <a:p xmlns:a="http://schemas.openxmlformats.org/drawingml/2006/main">
            <a:pPr algn="l"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下载 Markdown</a:t>
            </a:r>
          </a:p>
        </p:txBody>
      </p:sp>
      <p:sp>
        <p:nvSpPr>
          <p:cNvPr id="22" name="time-4">
            <a:extLst xmlns:a="http://schemas.openxmlformats.org/drawingml/2006/main">
              <a:ext uri="{FF2B5EF4-FFF2-40B4-BE49-F238E27FC236}">
                <a16:creationId xmlns:a16="http://schemas.microsoft.com/office/drawing/2014/main" id="{092EBB43-33D6-464D-8F3A-477E7CF3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019300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6–8 分钟</a:t>
            </a:r>
          </a:p>
        </p:txBody>
      </p:sp>
      <p:sp>
        <p:nvSpPr>
          <p:cNvPr id="23" name="time-name-4">
            <a:extLst xmlns:a="http://schemas.openxmlformats.org/drawingml/2006/main">
              <a:ext uri="{FF2B5EF4-FFF2-40B4-BE49-F238E27FC236}">
                <a16:creationId xmlns:a16="http://schemas.microsoft.com/office/drawing/2014/main" id="{5B856CCC-F8B2-4B19-BFB2-49B045832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505075"/>
            <a:ext cx="2038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代码讲解</a:t>
            </a:r>
          </a:p>
        </p:txBody>
      </p:sp>
      <p:sp>
        <p:nvSpPr>
          <p:cNvPr id="24" name="time-dot-4">
            <a:extLst xmlns:a="http://schemas.openxmlformats.org/drawingml/2006/main">
              <a:ext uri="{FF2B5EF4-FFF2-40B4-BE49-F238E27FC236}">
                <a16:creationId xmlns:a16="http://schemas.microsoft.com/office/drawing/2014/main" id="{BCB05490-E2EA-4BA9-8E8E-014E37D9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861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25" name="time-body-4">
            <a:extLst xmlns:a="http://schemas.openxmlformats.org/drawingml/2006/main">
              <a:ext uri="{FF2B5EF4-FFF2-40B4-BE49-F238E27FC236}">
                <a16:creationId xmlns:a16="http://schemas.microsoft.com/office/drawing/2014/main" id="{1A4A53BE-FFEE-44DB-8754-B794BD9C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524250"/>
            <a:ext cx="20383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main.go</a:t>
            </a:r>
          </a:p>
          <a:p xmlns:a="http://schemas.openxmlformats.org/drawingml/2006/main">
            <a:pPr algn="l"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openai.go:129</a:t>
            </a:r>
          </a:p>
          <a:p xmlns:a="http://schemas.openxmlformats.org/drawingml/2006/main">
            <a:pPr algn="l"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结果渲染</a:t>
            </a:r>
          </a:p>
        </p:txBody>
      </p:sp>
      <p:sp>
        <p:nvSpPr>
          <p:cNvPr id="26" name="fallback-title">
            <a:extLst xmlns:a="http://schemas.openxmlformats.org/drawingml/2006/main">
              <a:ext uri="{FF2B5EF4-FFF2-40B4-BE49-F238E27FC236}">
                <a16:creationId xmlns:a16="http://schemas.microsoft.com/office/drawing/2014/main" id="{021D2049-E63C-47D1-BFDE-34BE20ED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7687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翻车预案</a:t>
            </a:r>
          </a:p>
        </p:txBody>
      </p:sp>
      <p:sp>
        <p:nvSpPr>
          <p:cNvPr id="27" name="fallback-body">
            <a:extLst xmlns:a="http://schemas.openxmlformats.org/drawingml/2006/main">
              <a:ext uri="{FF2B5EF4-FFF2-40B4-BE49-F238E27FC236}">
                <a16:creationId xmlns:a16="http://schemas.microsoft.com/office/drawing/2014/main" id="{08EFE3B3-2E38-4371-BDC4-7273494DB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476875"/>
            <a:ext cx="9201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提前构建镜像与录屏；API 超时能解释错误分型；离线 demo 仅用于流程兜底，并明确显示“未调用 AI”。</a:t>
            </a:r>
          </a:p>
        </p:txBody>
      </p:sp>
    </p:spTree>
    <p:extLst>
      <p:ext uri="{BB962C8B-B14F-4D97-AF65-F5344CB8AC3E}">
        <p14:creationId xmlns:p14="http://schemas.microsoft.com/office/powerpoint/2010/main" val="1067049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6925F20D-DFE9-4909-A055-8C137499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549F4EF2-831D-4A9F-9EFE-479DADBD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096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它不替医生做决定，</a:t>
            </a:r>
          </a:p>
          <a:p xmlns:a="http://schemas.openxmlformats.org/drawingml/2006/main">
            <a:pPr algn="l">
              <a:defRPr sz="4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只让患者更准确地表达。</a:t>
            </a:r>
          </a:p>
        </p:txBody>
      </p:sp>
      <p:sp>
        <p:nvSpPr>
          <p:cNvPr id="3" name="close-rule">
            <a:extLst xmlns:a="http://schemas.openxmlformats.org/drawingml/2006/main">
              <a:ext uri="{FF2B5EF4-FFF2-40B4-BE49-F238E27FC236}">
                <a16:creationId xmlns:a16="http://schemas.microsoft.com/office/drawing/2014/main" id="{3FDC7FC8-465B-4A9D-82E1-F1F4DEC2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4" name="close-proof">
            <a:extLst xmlns:a="http://schemas.openxmlformats.org/drawingml/2006/main">
              <a:ext uri="{FF2B5EF4-FFF2-40B4-BE49-F238E27FC236}">
                <a16:creationId xmlns:a16="http://schemas.microsoft.com/office/drawing/2014/main" id="{2A64358A-1075-4D9C-86B1-37A50A9DC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真实 AI 调用  ·  可信联网检索  ·  人工确认闭环  ·  Docker 一键运行</a:t>
            </a:r>
          </a:p>
        </p:txBody>
      </p:sp>
      <p:sp>
        <p:nvSpPr>
          <p:cNvPr id="5" name="close-repo">
            <a:extLst xmlns:a="http://schemas.openxmlformats.org/drawingml/2006/main">
              <a:ext uri="{FF2B5EF4-FFF2-40B4-BE49-F238E27FC236}">
                <a16:creationId xmlns:a16="http://schemas.microsoft.com/office/drawing/2014/main" id="{E4401C96-C125-4C7B-B431-3F001F0B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809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Cascadia Mono"/>
                <a:ea typeface="Cascadia Mono"/>
                <a:cs typeface="Cascadia Mono"/>
              </a:defRPr>
            </a:pPr>
            <a:r>
              <a:rPr sz="1650" b="0">
                <a:solidFill>
                  <a:srgbClr val="5B6472"/>
                </a:solidFill>
                <a:latin typeface="Cascadia Mono"/>
                <a:ea typeface="Cascadia Mono"/>
                <a:cs typeface="Cascadia Mono"/>
              </a:rPr>
              <a:t>github.com/Asuka-20011204/visit_ready_agent</a:t>
            </a:r>
          </a:p>
        </p:txBody>
      </p:sp>
      <p:sp>
        <p:nvSpPr>
          <p:cNvPr id="6" name="close-url">
            <a:extLst xmlns:a="http://schemas.openxmlformats.org/drawingml/2006/main">
              <a:ext uri="{FF2B5EF4-FFF2-40B4-BE49-F238E27FC236}">
                <a16:creationId xmlns:a16="http://schemas.microsoft.com/office/drawing/2014/main" id="{2983783A-3B05-4410-80AC-E1A174BD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29300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本地演示：http://127.0.0.1:8080</a:t>
            </a:r>
          </a:p>
        </p:txBody>
      </p:sp>
      <p:sp>
        <p:nvSpPr>
          <p:cNvPr id="7" name="close-page">
            <a:extLst xmlns:a="http://schemas.openxmlformats.org/drawingml/2006/main">
              <a:ext uri="{FF2B5EF4-FFF2-40B4-BE49-F238E27FC236}">
                <a16:creationId xmlns:a16="http://schemas.microsoft.com/office/drawing/2014/main" id="{CC272A47-9F8F-4C01-AC6B-DFC6AE32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667545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2026-09-03T12:49:10.4410000Z</dcterms:created>
  <dcterms:modified xsi:type="dcterms:W3CDTF">2026-09-03T12:49:10.4410000Z</dcterms:modified>
</coreProperties>
</file>